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7" r:id="rId1"/>
  </p:sldMasterIdLst>
  <p:notesMasterIdLst>
    <p:notesMasterId r:id="rId15"/>
  </p:notesMasterIdLst>
  <p:sldIdLst>
    <p:sldId id="256" r:id="rId2"/>
    <p:sldId id="258" r:id="rId3"/>
    <p:sldId id="279" r:id="rId4"/>
    <p:sldId id="282" r:id="rId5"/>
    <p:sldId id="277" r:id="rId6"/>
    <p:sldId id="280" r:id="rId7"/>
    <p:sldId id="278" r:id="rId8"/>
    <p:sldId id="257" r:id="rId9"/>
    <p:sldId id="259" r:id="rId10"/>
    <p:sldId id="275" r:id="rId11"/>
    <p:sldId id="276" r:id="rId12"/>
    <p:sldId id="261" r:id="rId13"/>
    <p:sldId id="281" r:id="rId14"/>
  </p:sldIdLst>
  <p:sldSz cx="18288000" cy="10287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Arial Black" panose="020B0A04020102020204" pitchFamily="34" charset="0"/>
      <p:bold r:id="rId20"/>
    </p:embeddedFont>
    <p:embeddedFont>
      <p:font typeface="Raleway" panose="020B0604020202020204" charset="-52"/>
      <p:regular r:id="rId21"/>
      <p:bold r:id="rId22"/>
      <p:italic r:id="rId23"/>
      <p:boldItalic r:id="rId24"/>
    </p:embeddedFont>
    <p:embeddedFont>
      <p:font typeface="Roboto Condensed" panose="020B0604020202020204" charset="0"/>
      <p:regular r:id="rId25"/>
      <p:bold r:id="rId26"/>
      <p:italic r:id="rId27"/>
      <p:boldItalic r:id="rId28"/>
    </p:embeddedFont>
    <p:embeddedFont>
      <p:font typeface="Montserrat" panose="020B0604020202020204" charset="-52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D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658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859217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371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93722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1869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242845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subTitle" idx="1"/>
          </p:nvPr>
        </p:nvSpPr>
        <p:spPr>
          <a:xfrm>
            <a:off x="4729025" y="4416250"/>
            <a:ext cx="86460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11" name="Google Shape;11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7572850" y="5848020"/>
            <a:ext cx="1430300" cy="138751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Google Shape;12;p3"/>
          <p:cNvCxnSpPr/>
          <p:nvPr/>
        </p:nvCxnSpPr>
        <p:spPr>
          <a:xfrm rot="10800000">
            <a:off x="708796" y="727500"/>
            <a:ext cx="0" cy="9559500"/>
          </a:xfrm>
          <a:prstGeom prst="straightConnector1">
            <a:avLst/>
          </a:prstGeom>
          <a:noFill/>
          <a:ln w="38100" cap="flat" cmpd="sng">
            <a:solidFill>
              <a:srgbClr val="FFBD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3" name="Google Shape;13;p3"/>
          <p:cNvGrpSpPr/>
          <p:nvPr/>
        </p:nvGrpSpPr>
        <p:grpSpPr>
          <a:xfrm>
            <a:off x="388893" y="9258300"/>
            <a:ext cx="639836" cy="639836"/>
            <a:chOff x="0" y="0"/>
            <a:chExt cx="812800" cy="812800"/>
          </a:xfrm>
        </p:grpSpPr>
        <p:sp>
          <p:nvSpPr>
            <p:cNvPr id="14" name="Google Shape;14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3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" name="Google Shape;16;p3"/>
          <p:cNvGrpSpPr/>
          <p:nvPr/>
        </p:nvGrpSpPr>
        <p:grpSpPr>
          <a:xfrm>
            <a:off x="457891" y="8567516"/>
            <a:ext cx="501823" cy="501823"/>
            <a:chOff x="0" y="0"/>
            <a:chExt cx="812800" cy="812800"/>
          </a:xfrm>
        </p:grpSpPr>
        <p:sp>
          <p:nvSpPr>
            <p:cNvPr id="17" name="Google Shape;17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3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" name="Google Shape;19;p3"/>
          <p:cNvGrpSpPr/>
          <p:nvPr/>
        </p:nvGrpSpPr>
        <p:grpSpPr>
          <a:xfrm>
            <a:off x="532694" y="8026338"/>
            <a:ext cx="352186" cy="352186"/>
            <a:chOff x="0" y="0"/>
            <a:chExt cx="812800" cy="812800"/>
          </a:xfrm>
        </p:grpSpPr>
        <p:sp>
          <p:nvSpPr>
            <p:cNvPr id="20" name="Google Shape;20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" name="Google Shape;22;p3"/>
          <p:cNvGrpSpPr/>
          <p:nvPr/>
        </p:nvGrpSpPr>
        <p:grpSpPr>
          <a:xfrm>
            <a:off x="532694" y="551385"/>
            <a:ext cx="352186" cy="352186"/>
            <a:chOff x="0" y="0"/>
            <a:chExt cx="812800" cy="812800"/>
          </a:xfrm>
        </p:grpSpPr>
        <p:sp>
          <p:nvSpPr>
            <p:cNvPr id="23" name="Google Shape;23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" name="Google Shape;25;p3"/>
          <p:cNvGrpSpPr/>
          <p:nvPr/>
        </p:nvGrpSpPr>
        <p:grpSpPr>
          <a:xfrm>
            <a:off x="16865627" y="551369"/>
            <a:ext cx="2137519" cy="475425"/>
            <a:chOff x="30956" y="22078"/>
            <a:chExt cx="2850026" cy="633900"/>
          </a:xfrm>
        </p:grpSpPr>
        <p:cxnSp>
          <p:nvCxnSpPr>
            <p:cNvPr id="26" name="Google Shape;26;p3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3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8" name="Google Shape;28;p3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9" name="Google Shape;29;p3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0" name="Google Shape;30;p3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1" name="Google Shape;31;p3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" name="Google Shape;32;p3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" name="Google Shape;33;p3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"/>
              <a:buNone/>
              <a:defRPr sz="900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body" idx="1"/>
          </p:nvPr>
        </p:nvSpPr>
        <p:spPr>
          <a:xfrm>
            <a:off x="4849175" y="468435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0" y="432642"/>
            <a:ext cx="7948800" cy="0"/>
          </a:xfrm>
          <a:prstGeom prst="straightConnector1">
            <a:avLst/>
          </a:prstGeom>
          <a:noFill/>
          <a:ln w="38100" cap="flat" cmpd="sng">
            <a:solidFill>
              <a:srgbClr val="FFBD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8" name="Google Shape;38;p4"/>
          <p:cNvGrpSpPr/>
          <p:nvPr/>
        </p:nvGrpSpPr>
        <p:grpSpPr>
          <a:xfrm>
            <a:off x="896574" y="112738"/>
            <a:ext cx="1871799" cy="639836"/>
            <a:chOff x="-39" y="0"/>
            <a:chExt cx="2495732" cy="853115"/>
          </a:xfrm>
        </p:grpSpPr>
        <p:grpSp>
          <p:nvGrpSpPr>
            <p:cNvPr id="39" name="Google Shape;39;p4"/>
            <p:cNvGrpSpPr/>
            <p:nvPr/>
          </p:nvGrpSpPr>
          <p:grpSpPr>
            <a:xfrm rot="5400000">
              <a:off x="-39" y="0"/>
              <a:ext cx="853115" cy="853115"/>
              <a:chOff x="0" y="0"/>
              <a:chExt cx="812800" cy="812800"/>
            </a:xfrm>
          </p:grpSpPr>
          <p:sp>
            <p:nvSpPr>
              <p:cNvPr id="40" name="Google Shape;40;p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4"/>
              <p:cNvSpPr txBox="1"/>
              <p:nvPr/>
            </p:nvSpPr>
            <p:spPr>
              <a:xfrm>
                <a:off x="76200" y="19050"/>
                <a:ext cx="660300" cy="71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2" name="Google Shape;42;p4"/>
            <p:cNvGrpSpPr/>
            <p:nvPr/>
          </p:nvGrpSpPr>
          <p:grpSpPr>
            <a:xfrm rot="5400000">
              <a:off x="1105025" y="91998"/>
              <a:ext cx="669097" cy="669097"/>
              <a:chOff x="0" y="0"/>
              <a:chExt cx="812800" cy="812800"/>
            </a:xfrm>
          </p:grpSpPr>
          <p:sp>
            <p:nvSpPr>
              <p:cNvPr id="43" name="Google Shape;43;p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4"/>
              <p:cNvSpPr txBox="1"/>
              <p:nvPr/>
            </p:nvSpPr>
            <p:spPr>
              <a:xfrm>
                <a:off x="76200" y="19050"/>
                <a:ext cx="660300" cy="71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4"/>
            <p:cNvGrpSpPr/>
            <p:nvPr/>
          </p:nvGrpSpPr>
          <p:grpSpPr>
            <a:xfrm rot="5400000">
              <a:off x="2026057" y="191735"/>
              <a:ext cx="469636" cy="469636"/>
              <a:chOff x="0" y="0"/>
              <a:chExt cx="812800" cy="812800"/>
            </a:xfrm>
          </p:grpSpPr>
          <p:sp>
            <p:nvSpPr>
              <p:cNvPr id="46" name="Google Shape;46;p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47;p4"/>
              <p:cNvSpPr txBox="1"/>
              <p:nvPr/>
            </p:nvSpPr>
            <p:spPr>
              <a:xfrm>
                <a:off x="76200" y="19050"/>
                <a:ext cx="660300" cy="717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8" name="Google Shape;48;p4"/>
          <p:cNvGrpSpPr/>
          <p:nvPr/>
        </p:nvGrpSpPr>
        <p:grpSpPr>
          <a:xfrm rot="5400000">
            <a:off x="7796331" y="256540"/>
            <a:ext cx="352186" cy="352186"/>
            <a:chOff x="0" y="0"/>
            <a:chExt cx="812800" cy="812800"/>
          </a:xfrm>
        </p:grpSpPr>
        <p:sp>
          <p:nvSpPr>
            <p:cNvPr id="49" name="Google Shape;49;p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" name="Google Shape;51;p4"/>
          <p:cNvGrpSpPr/>
          <p:nvPr/>
        </p:nvGrpSpPr>
        <p:grpSpPr>
          <a:xfrm>
            <a:off x="15618305" y="1655"/>
            <a:ext cx="2137519" cy="475425"/>
            <a:chOff x="30956" y="22078"/>
            <a:chExt cx="2850026" cy="633900"/>
          </a:xfrm>
        </p:grpSpPr>
        <p:cxnSp>
          <p:nvCxnSpPr>
            <p:cNvPr id="52" name="Google Shape;52;p4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Google Shape;53;p4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4" name="Google Shape;54;p4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5" name="Google Shape;55;p4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6" name="Google Shape;56;p4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7" name="Google Shape;57;p4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Google Shape;58;p4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9" name="Google Shape;59;p4"/>
          <p:cNvGrpSpPr/>
          <p:nvPr/>
        </p:nvGrpSpPr>
        <p:grpSpPr>
          <a:xfrm rot="5400000">
            <a:off x="-814388" y="7426213"/>
            <a:ext cx="2137520" cy="475425"/>
            <a:chOff x="30956" y="22078"/>
            <a:chExt cx="2850026" cy="633900"/>
          </a:xfrm>
        </p:grpSpPr>
        <p:cxnSp>
          <p:nvCxnSpPr>
            <p:cNvPr id="60" name="Google Shape;60;p4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1" name="Google Shape;61;p4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2" name="Google Shape;62;p4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3" name="Google Shape;63;p4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4" name="Google Shape;64;p4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5" name="Google Shape;65;p4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6" name="Google Shape;66;p4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 txBox="1">
            <a:spLocks noGrp="1"/>
          </p:cNvSpPr>
          <p:nvPr>
            <p:ph type="body" idx="1"/>
          </p:nvPr>
        </p:nvSpPr>
        <p:spPr>
          <a:xfrm>
            <a:off x="5036213" y="6846688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400"/>
              <a:buNone/>
              <a:defRPr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24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2400"/>
              <a:buNone/>
              <a:defRPr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"/>
              <a:buNone/>
              <a:defRPr sz="900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70" name="Google Shape;70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5328799" y="6229971"/>
            <a:ext cx="998450" cy="96481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" name="Google Shape;71;p5"/>
          <p:cNvCxnSpPr/>
          <p:nvPr/>
        </p:nvCxnSpPr>
        <p:spPr>
          <a:xfrm rot="10800000">
            <a:off x="708796" y="5308800"/>
            <a:ext cx="0" cy="4978200"/>
          </a:xfrm>
          <a:prstGeom prst="straightConnector1">
            <a:avLst/>
          </a:prstGeom>
          <a:noFill/>
          <a:ln w="38100" cap="flat" cmpd="sng">
            <a:solidFill>
              <a:srgbClr val="FFBD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72" name="Google Shape;72;p5"/>
          <p:cNvGrpSpPr/>
          <p:nvPr/>
        </p:nvGrpSpPr>
        <p:grpSpPr>
          <a:xfrm>
            <a:off x="388893" y="9258300"/>
            <a:ext cx="639836" cy="639836"/>
            <a:chOff x="0" y="0"/>
            <a:chExt cx="812800" cy="812800"/>
          </a:xfrm>
        </p:grpSpPr>
        <p:sp>
          <p:nvSpPr>
            <p:cNvPr id="73" name="Google Shape;73;p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5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" name="Google Shape;75;p5"/>
          <p:cNvGrpSpPr/>
          <p:nvPr/>
        </p:nvGrpSpPr>
        <p:grpSpPr>
          <a:xfrm>
            <a:off x="457891" y="8567516"/>
            <a:ext cx="501823" cy="501823"/>
            <a:chOff x="0" y="0"/>
            <a:chExt cx="812800" cy="812800"/>
          </a:xfrm>
        </p:grpSpPr>
        <p:sp>
          <p:nvSpPr>
            <p:cNvPr id="76" name="Google Shape;76;p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5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8" name="Google Shape;78;p5"/>
          <p:cNvGrpSpPr/>
          <p:nvPr/>
        </p:nvGrpSpPr>
        <p:grpSpPr>
          <a:xfrm>
            <a:off x="532694" y="8026338"/>
            <a:ext cx="352186" cy="352186"/>
            <a:chOff x="0" y="0"/>
            <a:chExt cx="812800" cy="812800"/>
          </a:xfrm>
        </p:grpSpPr>
        <p:sp>
          <p:nvSpPr>
            <p:cNvPr id="79" name="Google Shape;79;p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5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" name="Google Shape;81;p5"/>
          <p:cNvGrpSpPr/>
          <p:nvPr/>
        </p:nvGrpSpPr>
        <p:grpSpPr>
          <a:xfrm>
            <a:off x="532694" y="4967398"/>
            <a:ext cx="352186" cy="352186"/>
            <a:chOff x="0" y="0"/>
            <a:chExt cx="812800" cy="812800"/>
          </a:xfrm>
        </p:grpSpPr>
        <p:sp>
          <p:nvSpPr>
            <p:cNvPr id="82" name="Google Shape;82;p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5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4" name="Google Shape;84;p5"/>
          <p:cNvGrpSpPr/>
          <p:nvPr/>
        </p:nvGrpSpPr>
        <p:grpSpPr>
          <a:xfrm>
            <a:off x="13473339" y="9749080"/>
            <a:ext cx="2137519" cy="475425"/>
            <a:chOff x="30956" y="22078"/>
            <a:chExt cx="2850026" cy="633900"/>
          </a:xfrm>
        </p:grpSpPr>
        <p:cxnSp>
          <p:nvCxnSpPr>
            <p:cNvPr id="85" name="Google Shape;85;p5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6" name="Google Shape;86;p5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7" name="Google Shape;87;p5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8" name="Google Shape;88;p5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9" name="Google Shape;89;p5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0" name="Google Shape;90;p5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1" name="Google Shape;91;p5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92" name="Google Shape;92;p5"/>
          <p:cNvGrpSpPr/>
          <p:nvPr/>
        </p:nvGrpSpPr>
        <p:grpSpPr>
          <a:xfrm>
            <a:off x="15590579" y="9749080"/>
            <a:ext cx="2137519" cy="475425"/>
            <a:chOff x="30956" y="22078"/>
            <a:chExt cx="2850026" cy="633900"/>
          </a:xfrm>
        </p:grpSpPr>
        <p:cxnSp>
          <p:nvCxnSpPr>
            <p:cNvPr id="93" name="Google Shape;93;p5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4" name="Google Shape;94;p5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5" name="Google Shape;95;p5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6" name="Google Shape;96;p5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" name="Google Shape;97;p5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8" name="Google Shape;98;p5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9" name="Google Shape;99;p5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6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6"/>
          <p:cNvSpPr txBox="1">
            <a:spLocks noGrp="1"/>
          </p:cNvSpPr>
          <p:nvPr>
            <p:ph type="body" idx="1"/>
          </p:nvPr>
        </p:nvSpPr>
        <p:spPr>
          <a:xfrm>
            <a:off x="3287925" y="4703850"/>
            <a:ext cx="5747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6"/>
          <p:cNvSpPr txBox="1">
            <a:spLocks noGrp="1"/>
          </p:cNvSpPr>
          <p:nvPr>
            <p:ph type="body" idx="2"/>
          </p:nvPr>
        </p:nvSpPr>
        <p:spPr>
          <a:xfrm>
            <a:off x="9252368" y="4703850"/>
            <a:ext cx="5747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pic>
        <p:nvPicPr>
          <p:cNvPr id="104" name="Google Shape;104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5675949" y="2808650"/>
            <a:ext cx="1084775" cy="105413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" name="Google Shape;105;p6"/>
          <p:cNvCxnSpPr/>
          <p:nvPr/>
        </p:nvCxnSpPr>
        <p:spPr>
          <a:xfrm rot="10800000">
            <a:off x="17579204" y="2400271"/>
            <a:ext cx="0" cy="8072400"/>
          </a:xfrm>
          <a:prstGeom prst="straightConnector1">
            <a:avLst/>
          </a:prstGeom>
          <a:noFill/>
          <a:ln w="38100" cap="flat" cmpd="sng">
            <a:solidFill>
              <a:srgbClr val="FFBD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6" name="Google Shape;106;p6"/>
          <p:cNvGrpSpPr/>
          <p:nvPr/>
        </p:nvGrpSpPr>
        <p:grpSpPr>
          <a:xfrm>
            <a:off x="17328298" y="8753186"/>
            <a:ext cx="501823" cy="501823"/>
            <a:chOff x="0" y="0"/>
            <a:chExt cx="812800" cy="812800"/>
          </a:xfrm>
        </p:grpSpPr>
        <p:sp>
          <p:nvSpPr>
            <p:cNvPr id="107" name="Google Shape;107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6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6"/>
          <p:cNvGrpSpPr/>
          <p:nvPr/>
        </p:nvGrpSpPr>
        <p:grpSpPr>
          <a:xfrm>
            <a:off x="17403101" y="8212008"/>
            <a:ext cx="352186" cy="352186"/>
            <a:chOff x="0" y="0"/>
            <a:chExt cx="812800" cy="812800"/>
          </a:xfrm>
        </p:grpSpPr>
        <p:sp>
          <p:nvSpPr>
            <p:cNvPr id="110" name="Google Shape;110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6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2" name="Google Shape;112;p6"/>
          <p:cNvGrpSpPr/>
          <p:nvPr/>
        </p:nvGrpSpPr>
        <p:grpSpPr>
          <a:xfrm>
            <a:off x="17403101" y="2048096"/>
            <a:ext cx="352186" cy="352186"/>
            <a:chOff x="0" y="0"/>
            <a:chExt cx="812800" cy="812800"/>
          </a:xfrm>
        </p:grpSpPr>
        <p:sp>
          <p:nvSpPr>
            <p:cNvPr id="113" name="Google Shape;113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6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5" name="Google Shape;115;p6"/>
          <p:cNvGrpSpPr/>
          <p:nvPr/>
        </p:nvGrpSpPr>
        <p:grpSpPr>
          <a:xfrm rot="5400000">
            <a:off x="-814388" y="2570955"/>
            <a:ext cx="2137520" cy="475425"/>
            <a:chOff x="30956" y="22078"/>
            <a:chExt cx="2850026" cy="633900"/>
          </a:xfrm>
        </p:grpSpPr>
        <p:cxnSp>
          <p:nvCxnSpPr>
            <p:cNvPr id="116" name="Google Shape;116;p6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7" name="Google Shape;117;p6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" name="Google Shape;118;p6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" name="Google Shape;119;p6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" name="Google Shape;120;p6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" name="Google Shape;121;p6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2" name="Google Shape;122;p6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7"/>
          <p:cNvSpPr txBox="1">
            <a:spLocks noGrp="1"/>
          </p:cNvSpPr>
          <p:nvPr>
            <p:ph type="body" idx="1"/>
          </p:nvPr>
        </p:nvSpPr>
        <p:spPr>
          <a:xfrm>
            <a:off x="2736702" y="4829575"/>
            <a:ext cx="6151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7"/>
          <p:cNvSpPr txBox="1">
            <a:spLocks noGrp="1"/>
          </p:cNvSpPr>
          <p:nvPr>
            <p:ph type="body" idx="2"/>
          </p:nvPr>
        </p:nvSpPr>
        <p:spPr>
          <a:xfrm>
            <a:off x="9113693" y="4829575"/>
            <a:ext cx="6154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pic>
        <p:nvPicPr>
          <p:cNvPr id="127" name="Google Shape;12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66525" y="8392049"/>
            <a:ext cx="2182800" cy="1274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050" y="446410"/>
            <a:ext cx="387650" cy="19321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9" name="Google Shape;129;p7"/>
          <p:cNvGrpSpPr/>
          <p:nvPr/>
        </p:nvGrpSpPr>
        <p:grpSpPr>
          <a:xfrm>
            <a:off x="14966537" y="204792"/>
            <a:ext cx="2137519" cy="475425"/>
            <a:chOff x="30956" y="22078"/>
            <a:chExt cx="2850026" cy="633900"/>
          </a:xfrm>
        </p:grpSpPr>
        <p:cxnSp>
          <p:nvCxnSpPr>
            <p:cNvPr id="130" name="Google Shape;130;p7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1" name="Google Shape;131;p7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2" name="Google Shape;132;p7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3" name="Google Shape;133;p7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4" name="Google Shape;134;p7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5" name="Google Shape;135;p7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6" name="Google Shape;136;p7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37" name="Google Shape;137;p7"/>
          <p:cNvGrpSpPr/>
          <p:nvPr/>
        </p:nvGrpSpPr>
        <p:grpSpPr>
          <a:xfrm>
            <a:off x="17083777" y="204792"/>
            <a:ext cx="2137519" cy="475425"/>
            <a:chOff x="30956" y="22078"/>
            <a:chExt cx="2850026" cy="633900"/>
          </a:xfrm>
        </p:grpSpPr>
        <p:cxnSp>
          <p:nvCxnSpPr>
            <p:cNvPr id="138" name="Google Shape;138;p7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9" name="Google Shape;139;p7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0" name="Google Shape;140;p7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1" name="Google Shape;141;p7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2" name="Google Shape;142;p7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3" name="Google Shape;143;p7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4" name="Google Shape;144;p7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47" name="Google Shape;147;p8"/>
          <p:cNvCxnSpPr/>
          <p:nvPr/>
        </p:nvCxnSpPr>
        <p:spPr>
          <a:xfrm rot="10800000">
            <a:off x="17259300" y="727500"/>
            <a:ext cx="0" cy="9559500"/>
          </a:xfrm>
          <a:prstGeom prst="straightConnector1">
            <a:avLst/>
          </a:prstGeom>
          <a:noFill/>
          <a:ln w="38100" cap="flat" cmpd="sng">
            <a:solidFill>
              <a:srgbClr val="FFBD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48" name="Google Shape;148;p8"/>
          <p:cNvGrpSpPr/>
          <p:nvPr/>
        </p:nvGrpSpPr>
        <p:grpSpPr>
          <a:xfrm>
            <a:off x="16939396" y="9258300"/>
            <a:ext cx="639836" cy="639836"/>
            <a:chOff x="0" y="0"/>
            <a:chExt cx="812800" cy="812800"/>
          </a:xfrm>
        </p:grpSpPr>
        <p:sp>
          <p:nvSpPr>
            <p:cNvPr id="149" name="Google Shape;149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8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p8"/>
          <p:cNvGrpSpPr/>
          <p:nvPr/>
        </p:nvGrpSpPr>
        <p:grpSpPr>
          <a:xfrm>
            <a:off x="17008395" y="8567516"/>
            <a:ext cx="501823" cy="501823"/>
            <a:chOff x="0" y="0"/>
            <a:chExt cx="812800" cy="812800"/>
          </a:xfrm>
        </p:grpSpPr>
        <p:sp>
          <p:nvSpPr>
            <p:cNvPr id="152" name="Google Shape;152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8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8"/>
          <p:cNvGrpSpPr/>
          <p:nvPr/>
        </p:nvGrpSpPr>
        <p:grpSpPr>
          <a:xfrm>
            <a:off x="17083198" y="8026338"/>
            <a:ext cx="352186" cy="352186"/>
            <a:chOff x="0" y="0"/>
            <a:chExt cx="812800" cy="812800"/>
          </a:xfrm>
        </p:grpSpPr>
        <p:sp>
          <p:nvSpPr>
            <p:cNvPr id="155" name="Google Shape;155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8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7" name="Google Shape;157;p8"/>
          <p:cNvGrpSpPr/>
          <p:nvPr/>
        </p:nvGrpSpPr>
        <p:grpSpPr>
          <a:xfrm>
            <a:off x="17083198" y="551385"/>
            <a:ext cx="352186" cy="352186"/>
            <a:chOff x="0" y="0"/>
            <a:chExt cx="812800" cy="812800"/>
          </a:xfrm>
        </p:grpSpPr>
        <p:sp>
          <p:nvSpPr>
            <p:cNvPr id="158" name="Google Shape;158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8"/>
            <p:cNvSpPr txBox="1"/>
            <p:nvPr/>
          </p:nvSpPr>
          <p:spPr>
            <a:xfrm>
              <a:off x="76200" y="19050"/>
              <a:ext cx="660300" cy="7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0" name="Google Shape;160;p8"/>
          <p:cNvGrpSpPr/>
          <p:nvPr/>
        </p:nvGrpSpPr>
        <p:grpSpPr>
          <a:xfrm>
            <a:off x="1051917" y="9744609"/>
            <a:ext cx="2137520" cy="475425"/>
            <a:chOff x="30956" y="22078"/>
            <a:chExt cx="2850026" cy="633900"/>
          </a:xfrm>
        </p:grpSpPr>
        <p:cxnSp>
          <p:nvCxnSpPr>
            <p:cNvPr id="161" name="Google Shape;161;p8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2" name="Google Shape;162;p8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3" name="Google Shape;163;p8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4" name="Google Shape;164;p8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5" name="Google Shape;165;p8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6" name="Google Shape;166;p8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7" name="Google Shape;167;p8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68" name="Google Shape;16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8475" y="4572470"/>
            <a:ext cx="765300" cy="7410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"/>
          <p:cNvSpPr txBox="1">
            <a:spLocks noGrp="1"/>
          </p:cNvSpPr>
          <p:nvPr>
            <p:ph type="body" idx="1"/>
          </p:nvPr>
        </p:nvSpPr>
        <p:spPr>
          <a:xfrm>
            <a:off x="9298225" y="4762625"/>
            <a:ext cx="5487000" cy="44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9"/>
          <p:cNvSpPr txBox="1">
            <a:spLocks noGrp="1"/>
          </p:cNvSpPr>
          <p:nvPr>
            <p:ph type="body" idx="2"/>
          </p:nvPr>
        </p:nvSpPr>
        <p:spPr>
          <a:xfrm>
            <a:off x="3502775" y="4870600"/>
            <a:ext cx="55998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9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"/>
              <a:buNone/>
              <a:defRPr sz="900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3" name="Google Shape;173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7193897" y="7776771"/>
            <a:ext cx="849975" cy="8255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4025" y="3135975"/>
            <a:ext cx="1551975" cy="19171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9"/>
          <p:cNvGrpSpPr/>
          <p:nvPr/>
        </p:nvGrpSpPr>
        <p:grpSpPr>
          <a:xfrm>
            <a:off x="2765041" y="9794917"/>
            <a:ext cx="2137519" cy="475425"/>
            <a:chOff x="30956" y="22078"/>
            <a:chExt cx="2850026" cy="633900"/>
          </a:xfrm>
        </p:grpSpPr>
        <p:cxnSp>
          <p:nvCxnSpPr>
            <p:cNvPr id="176" name="Google Shape;176;p9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7" name="Google Shape;177;p9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8" name="Google Shape;178;p9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9" name="Google Shape;179;p9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0" name="Google Shape;180;p9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1" name="Google Shape;181;p9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2" name="Google Shape;182;p9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83" name="Google Shape;183;p9"/>
          <p:cNvGrpSpPr/>
          <p:nvPr/>
        </p:nvGrpSpPr>
        <p:grpSpPr>
          <a:xfrm>
            <a:off x="4882281" y="9794917"/>
            <a:ext cx="2137520" cy="475425"/>
            <a:chOff x="30956" y="22078"/>
            <a:chExt cx="2850026" cy="633900"/>
          </a:xfrm>
        </p:grpSpPr>
        <p:cxnSp>
          <p:nvCxnSpPr>
            <p:cNvPr id="184" name="Google Shape;184;p9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5" name="Google Shape;185;p9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6" name="Google Shape;186;p9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7" name="Google Shape;187;p9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8" name="Google Shape;188;p9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9" name="Google Shape;189;p9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0" name="Google Shape;190;p9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"/>
          <p:cNvSpPr>
            <a:spLocks noGrp="1"/>
          </p:cNvSpPr>
          <p:nvPr>
            <p:ph type="pic" idx="2"/>
          </p:nvPr>
        </p:nvSpPr>
        <p:spPr>
          <a:xfrm>
            <a:off x="11032673" y="5005500"/>
            <a:ext cx="4678500" cy="3509100"/>
          </a:xfrm>
          <a:prstGeom prst="rect">
            <a:avLst/>
          </a:prstGeom>
          <a:noFill/>
          <a:ln>
            <a:noFill/>
          </a:ln>
        </p:spPr>
      </p:sp>
      <p:sp>
        <p:nvSpPr>
          <p:cNvPr id="193" name="Google Shape;193;p10"/>
          <p:cNvSpPr txBox="1">
            <a:spLocks noGrp="1"/>
          </p:cNvSpPr>
          <p:nvPr>
            <p:ph type="body" idx="1"/>
          </p:nvPr>
        </p:nvSpPr>
        <p:spPr>
          <a:xfrm>
            <a:off x="2436438" y="464508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0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"/>
              <a:buNone/>
              <a:defRPr sz="900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grpSp>
        <p:nvGrpSpPr>
          <p:cNvPr id="195" name="Google Shape;195;p10"/>
          <p:cNvGrpSpPr/>
          <p:nvPr/>
        </p:nvGrpSpPr>
        <p:grpSpPr>
          <a:xfrm>
            <a:off x="9265984" y="8920941"/>
            <a:ext cx="2137520" cy="475425"/>
            <a:chOff x="30956" y="22078"/>
            <a:chExt cx="2850026" cy="633900"/>
          </a:xfrm>
        </p:grpSpPr>
        <p:cxnSp>
          <p:nvCxnSpPr>
            <p:cNvPr id="196" name="Google Shape;196;p10"/>
            <p:cNvCxnSpPr/>
            <p:nvPr/>
          </p:nvCxnSpPr>
          <p:spPr>
            <a:xfrm rot="10800000" flipH="1">
              <a:off x="30956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7" name="Google Shape;197;p10"/>
            <p:cNvCxnSpPr/>
            <p:nvPr/>
          </p:nvCxnSpPr>
          <p:spPr>
            <a:xfrm rot="10800000" flipH="1">
              <a:off x="430160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8" name="Google Shape;198;p10"/>
            <p:cNvCxnSpPr/>
            <p:nvPr/>
          </p:nvCxnSpPr>
          <p:spPr>
            <a:xfrm rot="10800000" flipH="1">
              <a:off x="829364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9" name="Google Shape;199;p10"/>
            <p:cNvCxnSpPr/>
            <p:nvPr/>
          </p:nvCxnSpPr>
          <p:spPr>
            <a:xfrm rot="10800000" flipH="1">
              <a:off x="1228569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0" name="Google Shape;200;p10"/>
            <p:cNvCxnSpPr/>
            <p:nvPr/>
          </p:nvCxnSpPr>
          <p:spPr>
            <a:xfrm rot="10800000" flipH="1">
              <a:off x="1627773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1" name="Google Shape;201;p10"/>
            <p:cNvCxnSpPr/>
            <p:nvPr/>
          </p:nvCxnSpPr>
          <p:spPr>
            <a:xfrm rot="10800000" flipH="1">
              <a:off x="2026977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2" name="Google Shape;202;p10"/>
            <p:cNvCxnSpPr/>
            <p:nvPr/>
          </p:nvCxnSpPr>
          <p:spPr>
            <a:xfrm rot="10800000" flipH="1">
              <a:off x="2426182" y="22078"/>
              <a:ext cx="454800" cy="633900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203" name="Google Shape;20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381501" y="2267600"/>
            <a:ext cx="822075" cy="798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525" y="7990676"/>
            <a:ext cx="352175" cy="1766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787100" y="1320475"/>
            <a:ext cx="14713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"/>
              <a:buNone/>
              <a:defRPr sz="900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49175" y="468435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810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–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–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»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Char char="•"/>
              <a:defRPr sz="240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11"/>
          <p:cNvGrpSpPr/>
          <p:nvPr/>
        </p:nvGrpSpPr>
        <p:grpSpPr>
          <a:xfrm>
            <a:off x="15976928" y="708796"/>
            <a:ext cx="1871770" cy="639807"/>
            <a:chOff x="0" y="0"/>
            <a:chExt cx="2495693" cy="853076"/>
          </a:xfrm>
        </p:grpSpPr>
        <p:grpSp>
          <p:nvGrpSpPr>
            <p:cNvPr id="213" name="Google Shape;213;p11"/>
            <p:cNvGrpSpPr/>
            <p:nvPr/>
          </p:nvGrpSpPr>
          <p:grpSpPr>
            <a:xfrm rot="5400000">
              <a:off x="0" y="0"/>
              <a:ext cx="853076" cy="853076"/>
              <a:chOff x="0" y="0"/>
              <a:chExt cx="812800" cy="812800"/>
            </a:xfrm>
          </p:grpSpPr>
          <p:sp>
            <p:nvSpPr>
              <p:cNvPr id="214" name="Google Shape;214;p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11"/>
              <p:cNvSpPr txBox="1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6" name="Google Shape;216;p11"/>
            <p:cNvGrpSpPr/>
            <p:nvPr/>
          </p:nvGrpSpPr>
          <p:grpSpPr>
            <a:xfrm rot="5400000">
              <a:off x="1105041" y="91998"/>
              <a:ext cx="669081" cy="669081"/>
              <a:chOff x="0" y="0"/>
              <a:chExt cx="812800" cy="812800"/>
            </a:xfrm>
          </p:grpSpPr>
          <p:sp>
            <p:nvSpPr>
              <p:cNvPr id="217" name="Google Shape;217;p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1"/>
              <p:cNvSpPr txBox="1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 rot="5400000">
              <a:off x="2026087" y="191735"/>
              <a:ext cx="469606" cy="469606"/>
              <a:chOff x="0" y="0"/>
              <a:chExt cx="812800" cy="812800"/>
            </a:xfrm>
          </p:grpSpPr>
          <p:sp>
            <p:nvSpPr>
              <p:cNvPr id="220" name="Google Shape;220;p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1"/>
              <p:cNvSpPr txBox="1"/>
              <p:nvPr/>
            </p:nvSpPr>
            <p:spPr>
              <a:xfrm>
                <a:off x="76200" y="19050"/>
                <a:ext cx="660400" cy="7175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25" name="Google Shape;225;p11"/>
          <p:cNvSpPr txBox="1"/>
          <p:nvPr/>
        </p:nvSpPr>
        <p:spPr>
          <a:xfrm>
            <a:off x="2930738" y="1171783"/>
            <a:ext cx="12951703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ru-RU" sz="5400" b="1" dirty="0">
                <a:solidFill>
                  <a:srgbClr val="FFBD4C"/>
                </a:solidFill>
                <a:latin typeface="Arial Black" panose="020B0A04020102020204" pitchFamily="34" charset="0"/>
              </a:rPr>
              <a:t>Сайт для шифрования текста с использованием </a:t>
            </a:r>
            <a:r>
              <a:rPr lang="ru-RU" sz="5400" b="1" dirty="0" err="1">
                <a:solidFill>
                  <a:srgbClr val="FFBD4C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5400" b="1" dirty="0">
                <a:solidFill>
                  <a:srgbClr val="FFBD4C"/>
                </a:solidFill>
                <a:latin typeface="Arial Black" panose="020B0A04020102020204" pitchFamily="34" charset="0"/>
              </a:rPr>
              <a:t> шифра</a:t>
            </a:r>
            <a:endParaRPr lang="ru-RU" sz="5400" dirty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 algn="ctr"/>
            <a:endParaRPr sz="54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226" name="Google Shape;226;p11"/>
          <p:cNvGrpSpPr/>
          <p:nvPr/>
        </p:nvGrpSpPr>
        <p:grpSpPr>
          <a:xfrm rot="5400000">
            <a:off x="-814419" y="7426244"/>
            <a:ext cx="2137482" cy="475324"/>
            <a:chOff x="30956" y="22212"/>
            <a:chExt cx="2849976" cy="633766"/>
          </a:xfrm>
        </p:grpSpPr>
        <p:cxnSp>
          <p:nvCxnSpPr>
            <p:cNvPr id="227" name="Google Shape;227;p11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8" name="Google Shape;228;p11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9" name="Google Shape;229;p11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0" name="Google Shape;230;p11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1" name="Google Shape;231;p11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2" name="Google Shape;232;p11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3" name="Google Shape;233;p11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234" name="Google Shape;234;p11"/>
          <p:cNvGrpSpPr/>
          <p:nvPr/>
        </p:nvGrpSpPr>
        <p:grpSpPr>
          <a:xfrm>
            <a:off x="15098602" y="9795017"/>
            <a:ext cx="2137482" cy="475324"/>
            <a:chOff x="30956" y="22212"/>
            <a:chExt cx="2849976" cy="633766"/>
          </a:xfrm>
        </p:grpSpPr>
        <p:cxnSp>
          <p:nvCxnSpPr>
            <p:cNvPr id="235" name="Google Shape;235;p11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6" name="Google Shape;236;p11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7" name="Google Shape;237;p11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8" name="Google Shape;238;p11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9" name="Google Shape;239;p11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0" name="Google Shape;240;p11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1" name="Google Shape;241;p11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2" name="Google Shape;242;p11"/>
          <p:cNvSpPr txBox="1"/>
          <p:nvPr/>
        </p:nvSpPr>
        <p:spPr>
          <a:xfrm>
            <a:off x="7724117" y="7765746"/>
            <a:ext cx="40737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99" b="1" i="0" u="none" strike="noStrike" cap="none">
                <a:solidFill>
                  <a:srgbClr val="0C0F27"/>
                </a:solidFill>
                <a:latin typeface="Montserrat"/>
                <a:ea typeface="Montserrat"/>
                <a:cs typeface="Montserrat"/>
                <a:sym typeface="Montserrat"/>
              </a:rPr>
              <a:t>Presentation</a:t>
            </a:r>
            <a:endParaRPr/>
          </a:p>
        </p:txBody>
      </p:sp>
      <p:pic>
        <p:nvPicPr>
          <p:cNvPr id="243" name="Google Shape;24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4290" y="6879456"/>
            <a:ext cx="1793125" cy="356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65257" y="2314353"/>
            <a:ext cx="632150" cy="61373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734290" y="7307350"/>
            <a:ext cx="5029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Выполнили</a:t>
            </a:r>
            <a:r>
              <a:rPr lang="en-US" sz="32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  <a:endParaRPr lang="ru-RU" sz="3200" dirty="0" smtClean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r>
              <a:rPr lang="ru-RU" sz="32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Акбарова </a:t>
            </a:r>
            <a:r>
              <a:rPr lang="ru-RU" sz="3200" dirty="0" err="1" smtClean="0">
                <a:solidFill>
                  <a:srgbClr val="FFBD4C"/>
                </a:solidFill>
                <a:latin typeface="Arial Black" panose="020B0A04020102020204" pitchFamily="34" charset="0"/>
              </a:rPr>
              <a:t>Самира</a:t>
            </a:r>
            <a:r>
              <a:rPr lang="ru-RU" sz="32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, </a:t>
            </a:r>
            <a:r>
              <a:rPr lang="ru-RU" sz="3200" dirty="0" err="1" smtClean="0">
                <a:solidFill>
                  <a:srgbClr val="FFBD4C"/>
                </a:solidFill>
                <a:latin typeface="Arial Black" panose="020B0A04020102020204" pitchFamily="34" charset="0"/>
              </a:rPr>
              <a:t>Горбатюк</a:t>
            </a:r>
            <a:r>
              <a:rPr lang="ru-RU" sz="32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Святогор</a:t>
            </a:r>
            <a:endParaRPr lang="ru-RU" sz="32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Google Shape;303;p13"/>
          <p:cNvGrpSpPr/>
          <p:nvPr/>
        </p:nvGrpSpPr>
        <p:grpSpPr>
          <a:xfrm>
            <a:off x="581891" y="1076385"/>
            <a:ext cx="16677409" cy="9092851"/>
            <a:chOff x="0" y="-38100"/>
            <a:chExt cx="3606159" cy="1582034"/>
          </a:xfrm>
        </p:grpSpPr>
        <p:sp>
          <p:nvSpPr>
            <p:cNvPr id="304" name="Google Shape;304;p13"/>
            <p:cNvSpPr/>
            <p:nvPr/>
          </p:nvSpPr>
          <p:spPr>
            <a:xfrm>
              <a:off x="0" y="0"/>
              <a:ext cx="3606159" cy="1543934"/>
            </a:xfrm>
            <a:custGeom>
              <a:avLst/>
              <a:gdLst/>
              <a:ahLst/>
              <a:cxnLst/>
              <a:rect l="l" t="t" r="r" b="b"/>
              <a:pathLst>
                <a:path w="3606159" h="1543934" extrusionOk="0">
                  <a:moveTo>
                    <a:pt x="14390" y="0"/>
                  </a:moveTo>
                  <a:lnTo>
                    <a:pt x="3591770" y="0"/>
                  </a:lnTo>
                  <a:cubicBezTo>
                    <a:pt x="3599717" y="0"/>
                    <a:pt x="3606159" y="6442"/>
                    <a:pt x="3606159" y="14390"/>
                  </a:cubicBezTo>
                  <a:lnTo>
                    <a:pt x="3606159" y="1529544"/>
                  </a:lnTo>
                  <a:cubicBezTo>
                    <a:pt x="3606159" y="1533360"/>
                    <a:pt x="3604643" y="1537021"/>
                    <a:pt x="3601945" y="1539719"/>
                  </a:cubicBezTo>
                  <a:cubicBezTo>
                    <a:pt x="3599246" y="1542418"/>
                    <a:pt x="3595586" y="1543934"/>
                    <a:pt x="3591770" y="1543934"/>
                  </a:cubicBezTo>
                  <a:lnTo>
                    <a:pt x="14390" y="1543934"/>
                  </a:lnTo>
                  <a:cubicBezTo>
                    <a:pt x="10573" y="1543934"/>
                    <a:pt x="6913" y="1542418"/>
                    <a:pt x="4215" y="1539719"/>
                  </a:cubicBezTo>
                  <a:cubicBezTo>
                    <a:pt x="1516" y="1537021"/>
                    <a:pt x="0" y="1533360"/>
                    <a:pt x="0" y="1529544"/>
                  </a:cubicBezTo>
                  <a:lnTo>
                    <a:pt x="0" y="14390"/>
                  </a:lnTo>
                  <a:cubicBezTo>
                    <a:pt x="0" y="10573"/>
                    <a:pt x="1516" y="6913"/>
                    <a:pt x="4215" y="4215"/>
                  </a:cubicBezTo>
                  <a:cubicBezTo>
                    <a:pt x="6913" y="1516"/>
                    <a:pt x="10573" y="0"/>
                    <a:pt x="1439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13"/>
            <p:cNvSpPr txBox="1"/>
            <p:nvPr/>
          </p:nvSpPr>
          <p:spPr>
            <a:xfrm>
              <a:off x="0" y="-38100"/>
              <a:ext cx="3606159" cy="158203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7" name="Google Shape;30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805939" y="9204418"/>
            <a:ext cx="998450" cy="964818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3"/>
          <p:cNvSpPr txBox="1"/>
          <p:nvPr/>
        </p:nvSpPr>
        <p:spPr>
          <a:xfrm>
            <a:off x="4341591" y="165808"/>
            <a:ext cx="9601682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Цель и задачи</a:t>
            </a:r>
            <a:endParaRPr sz="6000" dirty="0">
              <a:latin typeface="Arial Black" panose="020B0A04020102020204" pitchFamily="34" charset="0"/>
            </a:endParaRPr>
          </a:p>
        </p:txBody>
      </p:sp>
      <p:sp>
        <p:nvSpPr>
          <p:cNvPr id="322" name="Google Shape;322;p13"/>
          <p:cNvSpPr txBox="1"/>
          <p:nvPr/>
        </p:nvSpPr>
        <p:spPr>
          <a:xfrm>
            <a:off x="791043" y="1295366"/>
            <a:ext cx="16382169" cy="9504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Цель проекта</a:t>
            </a:r>
            <a:r>
              <a:rPr lang="en-US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  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Разработка 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веб-приложения для шифрования и расшифровки текстовых сообщений с использованием </a:t>
            </a:r>
            <a:r>
              <a:rPr lang="ru-RU" sz="28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 шифра через удобный </a:t>
            </a:r>
            <a:r>
              <a:rPr lang="ru-RU" sz="28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браузерный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 интерфейс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  <a:endParaRPr lang="en-US" sz="2800" dirty="0" smtClean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>
              <a:lnSpc>
                <a:spcPct val="130000"/>
              </a:lnSpc>
            </a:pPr>
            <a:endParaRPr lang="en-US" sz="2800" dirty="0" smtClean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Задачи</a:t>
            </a:r>
            <a:r>
              <a:rPr lang="en-US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  <a:endParaRPr lang="ru-RU" sz="2800" dirty="0" smtClean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1. Провести анализ предметной области, изучить методы шифрования текста и особенности применения </a:t>
            </a:r>
            <a:r>
              <a:rPr lang="ru-RU" sz="28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 шифра в современных веб-приложениях.</a:t>
            </a:r>
          </a:p>
          <a:p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2. Изучить принцип работы </a:t>
            </a:r>
            <a:r>
              <a:rPr lang="ru-RU" sz="28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 шифра и математические основы алгоритма.</a:t>
            </a:r>
          </a:p>
          <a:p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3. Разработать структуру и интерфейс веб-сайта для шифрования и дешифрования текста.</a:t>
            </a:r>
          </a:p>
          <a:p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4. Реализовать алгоритм </a:t>
            </a:r>
            <a:r>
              <a:rPr lang="ru-RU" sz="28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 шифра на выбранном языке программирования.</a:t>
            </a:r>
          </a:p>
          <a:p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5. Обеспечить возможность ввода, шифрования и расшифровки текста пользователем через веб-интерфейс.</a:t>
            </a:r>
          </a:p>
          <a:p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6. Провести тестирование работы сайта и проверить корректность шифрования и дешифрования данных.</a:t>
            </a:r>
          </a:p>
          <a:p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7. Оценить удобство использования и эффективность разработанного веб-приложения.</a:t>
            </a:r>
          </a:p>
          <a:p>
            <a:pPr marL="0" marR="0" lvl="0" indent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323" name="Google Shape;323;p13"/>
          <p:cNvGrpSpPr/>
          <p:nvPr/>
        </p:nvGrpSpPr>
        <p:grpSpPr>
          <a:xfrm>
            <a:off x="791044" y="601061"/>
            <a:ext cx="2137482" cy="475324"/>
            <a:chOff x="30956" y="22212"/>
            <a:chExt cx="2849976" cy="633766"/>
          </a:xfrm>
        </p:grpSpPr>
        <p:cxnSp>
          <p:nvCxnSpPr>
            <p:cNvPr id="324" name="Google Shape;324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5" name="Google Shape;325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6" name="Google Shape;326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7" name="Google Shape;327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8" name="Google Shape;328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31" name="Google Shape;331;p13"/>
          <p:cNvGrpSpPr/>
          <p:nvPr/>
        </p:nvGrpSpPr>
        <p:grpSpPr>
          <a:xfrm>
            <a:off x="15376792" y="601061"/>
            <a:ext cx="2137482" cy="475324"/>
            <a:chOff x="30956" y="22212"/>
            <a:chExt cx="2849976" cy="633766"/>
          </a:xfrm>
        </p:grpSpPr>
        <p:cxnSp>
          <p:nvCxnSpPr>
            <p:cNvPr id="332" name="Google Shape;332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3" name="Google Shape;333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4" name="Google Shape;334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5" name="Google Shape;335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6" name="Google Shape;336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7" name="Google Shape;337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8" name="Google Shape;338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928255" y="2185669"/>
            <a:ext cx="16736290" cy="7574858"/>
          </a:xfrm>
        </p:spPr>
        <p:txBody>
          <a:bodyPr>
            <a:noAutofit/>
          </a:bodyPr>
          <a:lstStyle/>
          <a:p>
            <a:pPr algn="l">
              <a:lnSpc>
                <a:spcPct val="130000"/>
              </a:lnSpc>
            </a:pP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  В 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современном мире защита информации становится всё более важной из-за роста количества данных, передаваемых через интернет. Шифрование помогает обеспечивать безопасность сообщений и персональной информации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  <a:endParaRPr lang="ru-RU" sz="2800" dirty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 algn="l">
              <a:lnSpc>
                <a:spcPct val="130000"/>
              </a:lnSpc>
            </a:pP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  Тема 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проекта актуальна, так как криптография используется во многих цифровых сервисах и системах защиты данных. Изучение </a:t>
            </a:r>
            <a:r>
              <a:rPr lang="ru-RU" sz="28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 шифра позволяет понять основные принципы работы методов шифрования и применение математики в информационных технологиях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  <a:endParaRPr lang="ru-RU" sz="2800" dirty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 algn="l">
              <a:lnSpc>
                <a:spcPct val="130000"/>
              </a:lnSpc>
            </a:pP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  Проблема 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проекта заключается в недостатке простых и наглядных веб-приложений для изучения основ криптографии. Разрабатываемый сайт позволит пользователям удобно изучать процесс шифрования и дешифрования текста на практике.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939500" y="295239"/>
            <a:ext cx="147138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latin typeface="Arial Black" panose="020B0A04020102020204" pitchFamily="34" charset="0"/>
              </a:rPr>
              <a:t>Актуальность</a:t>
            </a:r>
            <a:endParaRPr lang="ru-RU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5430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err="1" smtClean="0">
                <a:latin typeface="Arial Black" panose="020B0A04020102020204" pitchFamily="34" charset="0"/>
              </a:rPr>
              <a:t>Афинный</a:t>
            </a:r>
            <a:r>
              <a:rPr lang="ru-RU" dirty="0" smtClean="0">
                <a:latin typeface="Arial Black" panose="020B0A04020102020204" pitchFamily="34" charset="0"/>
              </a:rPr>
              <a:t> шифр</a:t>
            </a:r>
            <a:endParaRPr lang="ru-RU" dirty="0">
              <a:latin typeface="Arial Black" panose="020B0A04020102020204" pitchFamily="34" charset="0"/>
            </a:endParaRPr>
          </a:p>
        </p:txBody>
      </p:sp>
      <p:pic>
        <p:nvPicPr>
          <p:cNvPr id="1028" name="Picture 4" descr="https://i.pinimg.com/736x/39/29/fc/3929fc6839dca2c59f4a978555722656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1491" y="2496767"/>
            <a:ext cx="6131214" cy="3445159"/>
          </a:xfrm>
          <a:prstGeom prst="roundRect">
            <a:avLst>
              <a:gd name="adj" fmla="val 1948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>
          <a:xfrm>
            <a:off x="6927273" y="2927409"/>
            <a:ext cx="11554690" cy="2323463"/>
          </a:xfrm>
        </p:spPr>
        <p:txBody>
          <a:bodyPr>
            <a:noAutofit/>
          </a:bodyPr>
          <a:lstStyle/>
          <a:p>
            <a:pPr algn="l"/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  </a:t>
            </a:r>
            <a:r>
              <a:rPr lang="ru-RU" sz="2800" dirty="0" err="1" smtClean="0">
                <a:solidFill>
                  <a:srgbClr val="FFBD4C"/>
                </a:solidFill>
                <a:latin typeface="Arial Black" panose="020B0A04020102020204" pitchFamily="34" charset="0"/>
              </a:rPr>
              <a:t>Афинный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шифр — это метод шифрования текста, основанный на математических преобразованиях букв алфавита. Он относится к классу шифров простой замены, где каждая буква заменяется другой по определённой формуле.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491" y="6015108"/>
            <a:ext cx="1650076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Суть </a:t>
            </a:r>
            <a:r>
              <a:rPr lang="ru-RU" sz="28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 шифра заключается в использовании функции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/>
            </a:r>
            <a:b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E(x)=(</a:t>
            </a:r>
            <a:r>
              <a:rPr lang="ru-RU" sz="2800" dirty="0" err="1" smtClean="0">
                <a:solidFill>
                  <a:srgbClr val="FFBD4C"/>
                </a:solidFill>
                <a:latin typeface="Arial Black" panose="020B0A04020102020204" pitchFamily="34" charset="0"/>
              </a:rPr>
              <a:t>ax+b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)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 </a:t>
            </a:r>
            <a:r>
              <a:rPr lang="ru-RU" sz="2800" dirty="0" err="1" smtClean="0">
                <a:solidFill>
                  <a:srgbClr val="FFBD4C"/>
                </a:solidFill>
                <a:latin typeface="Arial Black" panose="020B0A04020102020204" pitchFamily="34" charset="0"/>
              </a:rPr>
              <a:t>mod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m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/>
            </a:r>
            <a:b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где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/>
            </a:r>
            <a:b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* x — номер буквы исходного текста;</a:t>
            </a:r>
            <a:b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* a и b — ключи шифрования;</a:t>
            </a:r>
            <a:b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* m — количество символов в алфавите;</a:t>
            </a:r>
            <a:b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* E(x) — номер зашифрованной буквы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/>
            </a:r>
            <a:b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Для расшифровки используется обратная формула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/>
            </a:r>
            <a:b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D(x)=a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^-1(x-b) </a:t>
            </a:r>
            <a:r>
              <a:rPr lang="ru-RU" sz="2800" dirty="0" err="1" smtClean="0">
                <a:solidFill>
                  <a:srgbClr val="FFBD4C"/>
                </a:solidFill>
                <a:latin typeface="Arial Black" panose="020B0A04020102020204" pitchFamily="34" charset="0"/>
              </a:rPr>
              <a:t>mod</a:t>
            </a:r>
            <a:r>
              <a:rPr lang="ru-RU" sz="28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 </a:t>
            </a:r>
            <a:r>
              <a:rPr lang="ru-RU" sz="2800" dirty="0">
                <a:solidFill>
                  <a:srgbClr val="FFBD4C"/>
                </a:solidFill>
                <a:latin typeface="Arial Black" panose="020B0A04020102020204" pitchFamily="34" charset="0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3729900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295" y="170389"/>
            <a:ext cx="998450" cy="964818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3"/>
          <p:cNvSpPr txBox="1"/>
          <p:nvPr/>
        </p:nvSpPr>
        <p:spPr>
          <a:xfrm>
            <a:off x="4512124" y="170389"/>
            <a:ext cx="10200488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Основной функционал</a:t>
            </a:r>
            <a:endParaRPr sz="6000" dirty="0">
              <a:latin typeface="Arial Black" panose="020B0A04020102020204" pitchFamily="34" charset="0"/>
            </a:endParaRPr>
          </a:p>
        </p:txBody>
      </p:sp>
      <p:grpSp>
        <p:nvGrpSpPr>
          <p:cNvPr id="323" name="Google Shape;323;p13"/>
          <p:cNvGrpSpPr/>
          <p:nvPr/>
        </p:nvGrpSpPr>
        <p:grpSpPr>
          <a:xfrm>
            <a:off x="13473339" y="9749180"/>
            <a:ext cx="2137482" cy="475324"/>
            <a:chOff x="30956" y="22212"/>
            <a:chExt cx="2849976" cy="633766"/>
          </a:xfrm>
        </p:grpSpPr>
        <p:cxnSp>
          <p:nvCxnSpPr>
            <p:cNvPr id="324" name="Google Shape;324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5" name="Google Shape;325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6" name="Google Shape;326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7" name="Google Shape;327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8" name="Google Shape;328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31" name="Google Shape;331;p13"/>
          <p:cNvGrpSpPr/>
          <p:nvPr/>
        </p:nvGrpSpPr>
        <p:grpSpPr>
          <a:xfrm>
            <a:off x="15590579" y="9749180"/>
            <a:ext cx="2137482" cy="475324"/>
            <a:chOff x="30956" y="22212"/>
            <a:chExt cx="2849976" cy="633766"/>
          </a:xfrm>
        </p:grpSpPr>
        <p:cxnSp>
          <p:nvCxnSpPr>
            <p:cNvPr id="332" name="Google Shape;332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3" name="Google Shape;333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4" name="Google Shape;334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5" name="Google Shape;335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6" name="Google Shape;336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7" name="Google Shape;337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8" name="Google Shape;338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Скругленный прямоугольник 1"/>
          <p:cNvSpPr/>
          <p:nvPr/>
        </p:nvSpPr>
        <p:spPr>
          <a:xfrm>
            <a:off x="1357745" y="1648691"/>
            <a:ext cx="4461164" cy="2493818"/>
          </a:xfrm>
          <a:prstGeom prst="roundRect">
            <a:avLst/>
          </a:prstGeom>
          <a:noFill/>
          <a:ln w="57150">
            <a:solidFill>
              <a:srgbClr val="FFBD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/>
          <p:cNvSpPr txBox="1"/>
          <p:nvPr/>
        </p:nvSpPr>
        <p:spPr>
          <a:xfrm>
            <a:off x="1676399" y="2019059"/>
            <a:ext cx="357447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Шифрование текста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26" name="Скругленный прямоугольник 25"/>
          <p:cNvSpPr/>
          <p:nvPr/>
        </p:nvSpPr>
        <p:spPr>
          <a:xfrm>
            <a:off x="12311498" y="1773055"/>
            <a:ext cx="4461164" cy="2493818"/>
          </a:xfrm>
          <a:prstGeom prst="roundRect">
            <a:avLst/>
          </a:prstGeom>
          <a:noFill/>
          <a:ln w="57150">
            <a:solidFill>
              <a:srgbClr val="FFBD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12517962" y="2256683"/>
            <a:ext cx="404440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Дешифрование текста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3948545" y="5389418"/>
            <a:ext cx="4461164" cy="2493818"/>
          </a:xfrm>
          <a:prstGeom prst="roundRect">
            <a:avLst/>
          </a:prstGeom>
          <a:noFill/>
          <a:ln w="57150">
            <a:solidFill>
              <a:srgbClr val="FFBD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/>
          <p:cNvSpPr txBox="1"/>
          <p:nvPr/>
        </p:nvSpPr>
        <p:spPr>
          <a:xfrm>
            <a:off x="4391890" y="5851497"/>
            <a:ext cx="35744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Настройка параметров шифра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32" name="Скругленный прямоугольник 31"/>
          <p:cNvSpPr/>
          <p:nvPr/>
        </p:nvSpPr>
        <p:spPr>
          <a:xfrm>
            <a:off x="10080916" y="5389418"/>
            <a:ext cx="4461164" cy="2493818"/>
          </a:xfrm>
          <a:prstGeom prst="roundRect">
            <a:avLst/>
          </a:prstGeom>
          <a:noFill/>
          <a:ln w="57150">
            <a:solidFill>
              <a:srgbClr val="FFBD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TextBox 33"/>
          <p:cNvSpPr txBox="1"/>
          <p:nvPr/>
        </p:nvSpPr>
        <p:spPr>
          <a:xfrm>
            <a:off x="10539333" y="5682917"/>
            <a:ext cx="35744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Мгновенное отображение результата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7154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295" y="170389"/>
            <a:ext cx="998450" cy="964818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3"/>
          <p:cNvSpPr txBox="1"/>
          <p:nvPr/>
        </p:nvSpPr>
        <p:spPr>
          <a:xfrm>
            <a:off x="7643252" y="146814"/>
            <a:ext cx="201336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Стек</a:t>
            </a:r>
            <a:endParaRPr sz="6000" dirty="0">
              <a:latin typeface="Arial Black" panose="020B0A04020102020204" pitchFamily="34" charset="0"/>
            </a:endParaRPr>
          </a:p>
        </p:txBody>
      </p:sp>
      <p:grpSp>
        <p:nvGrpSpPr>
          <p:cNvPr id="323" name="Google Shape;323;p13"/>
          <p:cNvGrpSpPr/>
          <p:nvPr/>
        </p:nvGrpSpPr>
        <p:grpSpPr>
          <a:xfrm>
            <a:off x="13473339" y="9749180"/>
            <a:ext cx="2137482" cy="475324"/>
            <a:chOff x="30956" y="22212"/>
            <a:chExt cx="2849976" cy="633766"/>
          </a:xfrm>
        </p:grpSpPr>
        <p:cxnSp>
          <p:nvCxnSpPr>
            <p:cNvPr id="324" name="Google Shape;324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5" name="Google Shape;325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6" name="Google Shape;326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7" name="Google Shape;327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8" name="Google Shape;328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31" name="Google Shape;331;p13"/>
          <p:cNvGrpSpPr/>
          <p:nvPr/>
        </p:nvGrpSpPr>
        <p:grpSpPr>
          <a:xfrm>
            <a:off x="15590579" y="9749180"/>
            <a:ext cx="2137482" cy="475324"/>
            <a:chOff x="30956" y="22212"/>
            <a:chExt cx="2849976" cy="633766"/>
          </a:xfrm>
        </p:grpSpPr>
        <p:cxnSp>
          <p:nvCxnSpPr>
            <p:cNvPr id="332" name="Google Shape;332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3" name="Google Shape;333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4" name="Google Shape;334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5" name="Google Shape;335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6" name="Google Shape;336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7" name="Google Shape;337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8" name="Google Shape;338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" name="TextBox 3"/>
          <p:cNvSpPr txBox="1"/>
          <p:nvPr/>
        </p:nvSpPr>
        <p:spPr>
          <a:xfrm>
            <a:off x="2963657" y="1759527"/>
            <a:ext cx="13995066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FFBD4C"/>
                </a:solidFill>
                <a:latin typeface="Arial Black" panose="020B0A04020102020204" pitchFamily="34" charset="0"/>
              </a:rPr>
              <a:t>1.Язык программирования </a:t>
            </a:r>
            <a:r>
              <a:rPr lang="ru-RU" sz="4000" dirty="0" err="1">
                <a:solidFill>
                  <a:srgbClr val="FFBD4C"/>
                </a:solidFill>
                <a:latin typeface="Arial Black" panose="020B0A04020102020204" pitchFamily="34" charset="0"/>
              </a:rPr>
              <a:t>Python</a:t>
            </a: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</a:p>
          <a:p>
            <a:endParaRPr lang="ru-RU" sz="4000" dirty="0" smtClean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FFBD4C"/>
                </a:solidFill>
                <a:latin typeface="Arial Black" panose="020B0A04020102020204" pitchFamily="34" charset="0"/>
              </a:rPr>
              <a:t>2.Flask</a:t>
            </a: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  <a:r>
              <a:rPr lang="ru-RU" sz="4000" dirty="0">
                <a:solidFill>
                  <a:srgbClr val="FFBD4C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микрофреймворк</a:t>
            </a:r>
            <a:r>
              <a:rPr lang="ru-RU" sz="4000" dirty="0">
                <a:solidFill>
                  <a:srgbClr val="FFBD4C"/>
                </a:solidFill>
                <a:latin typeface="Arial Black" panose="020B0A04020102020204" pitchFamily="34" charset="0"/>
              </a:rPr>
              <a:t> для создания веб-приложений на </a:t>
            </a:r>
            <a:r>
              <a:rPr lang="ru-RU" sz="4000" dirty="0" err="1">
                <a:solidFill>
                  <a:srgbClr val="FFBD4C"/>
                </a:solidFill>
                <a:latin typeface="Arial Black" panose="020B0A04020102020204" pitchFamily="34" charset="0"/>
              </a:rPr>
              <a:t>Python</a:t>
            </a: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</a:p>
          <a:p>
            <a:endParaRPr lang="ru-RU" sz="4000" dirty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3.HTML </a:t>
            </a:r>
            <a:r>
              <a:rPr lang="ru-RU" sz="4000" dirty="0">
                <a:solidFill>
                  <a:srgbClr val="FFBD4C"/>
                </a:solidFill>
                <a:latin typeface="Arial Black" panose="020B0A04020102020204" pitchFamily="34" charset="0"/>
              </a:rPr>
              <a:t>используется для создания структуры веб-страницы</a:t>
            </a: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</a:p>
          <a:p>
            <a:endParaRPr lang="ru-RU" sz="4000" dirty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4.CSS </a:t>
            </a:r>
            <a:r>
              <a:rPr lang="ru-RU" sz="4000" dirty="0">
                <a:solidFill>
                  <a:srgbClr val="FFBD4C"/>
                </a:solidFill>
                <a:latin typeface="Arial Black" panose="020B0A04020102020204" pitchFamily="34" charset="0"/>
              </a:rPr>
              <a:t>используется для оформления интерфейса.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6203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Google Shape;303;p13"/>
          <p:cNvGrpSpPr/>
          <p:nvPr/>
        </p:nvGrpSpPr>
        <p:grpSpPr>
          <a:xfrm>
            <a:off x="581891" y="1551710"/>
            <a:ext cx="16677409" cy="6101128"/>
            <a:chOff x="0" y="-38100"/>
            <a:chExt cx="3606159" cy="1582034"/>
          </a:xfrm>
        </p:grpSpPr>
        <p:sp>
          <p:nvSpPr>
            <p:cNvPr id="304" name="Google Shape;304;p13"/>
            <p:cNvSpPr/>
            <p:nvPr/>
          </p:nvSpPr>
          <p:spPr>
            <a:xfrm>
              <a:off x="0" y="0"/>
              <a:ext cx="3606159" cy="1543934"/>
            </a:xfrm>
            <a:custGeom>
              <a:avLst/>
              <a:gdLst/>
              <a:ahLst/>
              <a:cxnLst/>
              <a:rect l="l" t="t" r="r" b="b"/>
              <a:pathLst>
                <a:path w="3606159" h="1543934" extrusionOk="0">
                  <a:moveTo>
                    <a:pt x="14390" y="0"/>
                  </a:moveTo>
                  <a:lnTo>
                    <a:pt x="3591770" y="0"/>
                  </a:lnTo>
                  <a:cubicBezTo>
                    <a:pt x="3599717" y="0"/>
                    <a:pt x="3606159" y="6442"/>
                    <a:pt x="3606159" y="14390"/>
                  </a:cubicBezTo>
                  <a:lnTo>
                    <a:pt x="3606159" y="1529544"/>
                  </a:lnTo>
                  <a:cubicBezTo>
                    <a:pt x="3606159" y="1533360"/>
                    <a:pt x="3604643" y="1537021"/>
                    <a:pt x="3601945" y="1539719"/>
                  </a:cubicBezTo>
                  <a:cubicBezTo>
                    <a:pt x="3599246" y="1542418"/>
                    <a:pt x="3595586" y="1543934"/>
                    <a:pt x="3591770" y="1543934"/>
                  </a:cubicBezTo>
                  <a:lnTo>
                    <a:pt x="14390" y="1543934"/>
                  </a:lnTo>
                  <a:cubicBezTo>
                    <a:pt x="10573" y="1543934"/>
                    <a:pt x="6913" y="1542418"/>
                    <a:pt x="4215" y="1539719"/>
                  </a:cubicBezTo>
                  <a:cubicBezTo>
                    <a:pt x="1516" y="1537021"/>
                    <a:pt x="0" y="1533360"/>
                    <a:pt x="0" y="1529544"/>
                  </a:cubicBezTo>
                  <a:lnTo>
                    <a:pt x="0" y="14390"/>
                  </a:lnTo>
                  <a:cubicBezTo>
                    <a:pt x="0" y="10573"/>
                    <a:pt x="1516" y="6913"/>
                    <a:pt x="4215" y="4215"/>
                  </a:cubicBezTo>
                  <a:cubicBezTo>
                    <a:pt x="6913" y="1516"/>
                    <a:pt x="10573" y="0"/>
                    <a:pt x="1439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13"/>
            <p:cNvSpPr txBox="1"/>
            <p:nvPr/>
          </p:nvSpPr>
          <p:spPr>
            <a:xfrm>
              <a:off x="0" y="-38100"/>
              <a:ext cx="3606159" cy="158203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7" name="Google Shape;30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28799" y="6229971"/>
            <a:ext cx="998450" cy="964818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3"/>
          <p:cNvSpPr txBox="1"/>
          <p:nvPr/>
        </p:nvSpPr>
        <p:spPr>
          <a:xfrm>
            <a:off x="5988896" y="114300"/>
            <a:ext cx="6303424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Суть проверки</a:t>
            </a:r>
            <a:endParaRPr sz="6000" dirty="0">
              <a:latin typeface="Arial Black" panose="020B0A04020102020204" pitchFamily="34" charset="0"/>
            </a:endParaRPr>
          </a:p>
        </p:txBody>
      </p:sp>
      <p:sp>
        <p:nvSpPr>
          <p:cNvPr id="322" name="Google Shape;322;p13"/>
          <p:cNvSpPr txBox="1"/>
          <p:nvPr/>
        </p:nvSpPr>
        <p:spPr>
          <a:xfrm>
            <a:off x="901833" y="1911066"/>
            <a:ext cx="13769117" cy="4001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1.Корректное шифрование английского текста</a:t>
            </a:r>
          </a:p>
          <a:p>
            <a:pPr marL="0" marR="0" lvl="0" indent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2.Корректное шифрование русского текста</a:t>
            </a:r>
          </a:p>
          <a:p>
            <a:pPr marL="0" marR="0" lvl="0" indent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3.Корректная расшифровка</a:t>
            </a:r>
          </a:p>
          <a:p>
            <a:pPr marL="0" marR="0" lvl="0" indent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dirty="0">
                <a:solidFill>
                  <a:srgbClr val="FFBD4C"/>
                </a:solidFill>
                <a:latin typeface="Arial Black" panose="020B0A04020102020204" pitchFamily="34" charset="0"/>
              </a:rPr>
              <a:t>4</a:t>
            </a:r>
            <a:r>
              <a:rPr lang="ru-RU" sz="40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.Обработка ошибок при вводе неправильного ключа</a:t>
            </a:r>
            <a:endParaRPr sz="40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323" name="Google Shape;323;p13"/>
          <p:cNvGrpSpPr/>
          <p:nvPr/>
        </p:nvGrpSpPr>
        <p:grpSpPr>
          <a:xfrm>
            <a:off x="13473339" y="9749180"/>
            <a:ext cx="2137482" cy="475324"/>
            <a:chOff x="30956" y="22212"/>
            <a:chExt cx="2849976" cy="633766"/>
          </a:xfrm>
        </p:grpSpPr>
        <p:cxnSp>
          <p:nvCxnSpPr>
            <p:cNvPr id="324" name="Google Shape;324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5" name="Google Shape;325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6" name="Google Shape;326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7" name="Google Shape;327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8" name="Google Shape;328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31" name="Google Shape;331;p13"/>
          <p:cNvGrpSpPr/>
          <p:nvPr/>
        </p:nvGrpSpPr>
        <p:grpSpPr>
          <a:xfrm>
            <a:off x="15590579" y="9749180"/>
            <a:ext cx="2137482" cy="475324"/>
            <a:chOff x="30956" y="22212"/>
            <a:chExt cx="2849976" cy="633766"/>
          </a:xfrm>
        </p:grpSpPr>
        <p:cxnSp>
          <p:nvCxnSpPr>
            <p:cNvPr id="332" name="Google Shape;332;p13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3" name="Google Shape;333;p13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4" name="Google Shape;334;p13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5" name="Google Shape;335;p13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6" name="Google Shape;336;p13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7" name="Google Shape;337;p13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8" name="Google Shape;338;p13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  <p:extLst>
      <p:ext uri="{BB962C8B-B14F-4D97-AF65-F5344CB8AC3E}">
        <p14:creationId xmlns:p14="http://schemas.microsoft.com/office/powerpoint/2010/main" val="4198887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Google Shape;250;p12"/>
          <p:cNvGrpSpPr/>
          <p:nvPr/>
        </p:nvGrpSpPr>
        <p:grpSpPr>
          <a:xfrm>
            <a:off x="4975110" y="2357256"/>
            <a:ext cx="1430070" cy="1505747"/>
            <a:chOff x="0" y="0"/>
            <a:chExt cx="812800" cy="812800"/>
          </a:xfrm>
        </p:grpSpPr>
        <p:sp>
          <p:nvSpPr>
            <p:cNvPr id="251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dirty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2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3" name="Google Shape;253;p12"/>
          <p:cNvGrpSpPr/>
          <p:nvPr/>
        </p:nvGrpSpPr>
        <p:grpSpPr>
          <a:xfrm>
            <a:off x="554500" y="2815675"/>
            <a:ext cx="2075056" cy="3026010"/>
            <a:chOff x="0" y="-38100"/>
            <a:chExt cx="1143386" cy="1442558"/>
          </a:xfrm>
        </p:grpSpPr>
        <p:sp>
          <p:nvSpPr>
            <p:cNvPr id="254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1" name="Google Shape;281;p12"/>
          <p:cNvSpPr txBox="1"/>
          <p:nvPr/>
        </p:nvSpPr>
        <p:spPr>
          <a:xfrm>
            <a:off x="2451226" y="143333"/>
            <a:ext cx="13094968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Сценарий использования</a:t>
            </a:r>
            <a:endParaRPr sz="900" dirty="0">
              <a:latin typeface="Arial Black" panose="020B0A04020102020204" pitchFamily="34" charset="0"/>
            </a:endParaRPr>
          </a:p>
        </p:txBody>
      </p:sp>
      <p:sp>
        <p:nvSpPr>
          <p:cNvPr id="285" name="Google Shape;285;p12"/>
          <p:cNvSpPr txBox="1"/>
          <p:nvPr/>
        </p:nvSpPr>
        <p:spPr>
          <a:xfrm>
            <a:off x="620856" y="4038384"/>
            <a:ext cx="1968612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u="none" strike="noStrike" cap="none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Запуск</a:t>
            </a: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Открытие веб-сайта</a:t>
            </a:r>
            <a:endParaRPr sz="1100" dirty="0">
              <a:latin typeface="+mj-lt"/>
            </a:endParaRPr>
          </a:p>
        </p:txBody>
      </p:sp>
      <p:sp>
        <p:nvSpPr>
          <p:cNvPr id="289" name="Google Shape;289;p12"/>
          <p:cNvSpPr txBox="1"/>
          <p:nvPr/>
        </p:nvSpPr>
        <p:spPr>
          <a:xfrm>
            <a:off x="8685464" y="3900774"/>
            <a:ext cx="595551" cy="154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 dirty="0">
                <a:solidFill>
                  <a:srgbClr val="0C0F27"/>
                </a:solidFill>
                <a:latin typeface="Raleway"/>
                <a:ea typeface="Raleway"/>
                <a:cs typeface="Raleway"/>
                <a:sym typeface="Raleway"/>
              </a:rPr>
              <a:t>2</a:t>
            </a:r>
            <a:endParaRPr dirty="0"/>
          </a:p>
        </p:txBody>
      </p:sp>
      <p:grpSp>
        <p:nvGrpSpPr>
          <p:cNvPr id="52" name="Google Shape;253;p12"/>
          <p:cNvGrpSpPr/>
          <p:nvPr/>
        </p:nvGrpSpPr>
        <p:grpSpPr>
          <a:xfrm>
            <a:off x="4630111" y="2803583"/>
            <a:ext cx="2075056" cy="3026010"/>
            <a:chOff x="0" y="-38100"/>
            <a:chExt cx="1143386" cy="1442558"/>
          </a:xfrm>
        </p:grpSpPr>
        <p:sp>
          <p:nvSpPr>
            <p:cNvPr id="53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" name="Google Shape;250;p12"/>
          <p:cNvGrpSpPr/>
          <p:nvPr/>
        </p:nvGrpSpPr>
        <p:grpSpPr>
          <a:xfrm>
            <a:off x="952607" y="2440524"/>
            <a:ext cx="1278842" cy="1366306"/>
            <a:chOff x="0" y="0"/>
            <a:chExt cx="812800" cy="812800"/>
          </a:xfrm>
        </p:grpSpPr>
        <p:sp>
          <p:nvSpPr>
            <p:cNvPr id="59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b="0" i="0" u="none" strike="noStrike" cap="none" dirty="0" smtClean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1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" name="Google Shape;285;p12"/>
          <p:cNvSpPr txBox="1"/>
          <p:nvPr/>
        </p:nvSpPr>
        <p:spPr>
          <a:xfrm>
            <a:off x="4683333" y="4035205"/>
            <a:ext cx="1968612" cy="9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u="none" strike="noStrike" cap="none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Ввод</a:t>
            </a: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Текст и ключи</a:t>
            </a:r>
            <a:endParaRPr sz="1000" dirty="0">
              <a:latin typeface="+mj-lt"/>
            </a:endParaRPr>
          </a:p>
        </p:txBody>
      </p:sp>
      <p:sp>
        <p:nvSpPr>
          <p:cNvPr id="62" name="Google Shape;285;p12"/>
          <p:cNvSpPr txBox="1"/>
          <p:nvPr/>
        </p:nvSpPr>
        <p:spPr>
          <a:xfrm>
            <a:off x="8552078" y="4035205"/>
            <a:ext cx="1968612" cy="9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u="none" strike="noStrike" cap="none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Запуск</a:t>
            </a: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Нажатие кнопки</a:t>
            </a:r>
            <a:endParaRPr sz="1100" dirty="0">
              <a:latin typeface="+mj-lt"/>
            </a:endParaRPr>
          </a:p>
        </p:txBody>
      </p:sp>
      <p:grpSp>
        <p:nvGrpSpPr>
          <p:cNvPr id="63" name="Google Shape;253;p12"/>
          <p:cNvGrpSpPr/>
          <p:nvPr/>
        </p:nvGrpSpPr>
        <p:grpSpPr>
          <a:xfrm>
            <a:off x="8498856" y="2803583"/>
            <a:ext cx="2075056" cy="3026010"/>
            <a:chOff x="0" y="-38100"/>
            <a:chExt cx="1143386" cy="1442558"/>
          </a:xfrm>
        </p:grpSpPr>
        <p:sp>
          <p:nvSpPr>
            <p:cNvPr id="64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9" name="Google Shape;250;p12"/>
          <p:cNvGrpSpPr/>
          <p:nvPr/>
        </p:nvGrpSpPr>
        <p:grpSpPr>
          <a:xfrm>
            <a:off x="8632347" y="2281257"/>
            <a:ext cx="1620054" cy="1583870"/>
            <a:chOff x="0" y="0"/>
            <a:chExt cx="812800" cy="812800"/>
          </a:xfrm>
        </p:grpSpPr>
        <p:sp>
          <p:nvSpPr>
            <p:cNvPr id="70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dirty="0" smtClean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3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0" name="Google Shape;253;p12"/>
          <p:cNvGrpSpPr/>
          <p:nvPr/>
        </p:nvGrpSpPr>
        <p:grpSpPr>
          <a:xfrm>
            <a:off x="11978483" y="2803583"/>
            <a:ext cx="2075056" cy="3026010"/>
            <a:chOff x="0" y="-38100"/>
            <a:chExt cx="1143386" cy="1442558"/>
          </a:xfrm>
        </p:grpSpPr>
        <p:sp>
          <p:nvSpPr>
            <p:cNvPr id="81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3" name="Google Shape;253;p12"/>
          <p:cNvGrpSpPr/>
          <p:nvPr/>
        </p:nvGrpSpPr>
        <p:grpSpPr>
          <a:xfrm>
            <a:off x="15708605" y="2815675"/>
            <a:ext cx="2075056" cy="3026010"/>
            <a:chOff x="0" y="-38100"/>
            <a:chExt cx="1143386" cy="1442558"/>
          </a:xfrm>
        </p:grpSpPr>
        <p:sp>
          <p:nvSpPr>
            <p:cNvPr id="84" name="Google Shape;254;p12"/>
            <p:cNvSpPr/>
            <p:nvPr/>
          </p:nvSpPr>
          <p:spPr>
            <a:xfrm>
              <a:off x="0" y="0"/>
              <a:ext cx="1143386" cy="1404458"/>
            </a:xfrm>
            <a:custGeom>
              <a:avLst/>
              <a:gdLst/>
              <a:ahLst/>
              <a:cxnLst/>
              <a:rect l="l" t="t" r="r" b="b"/>
              <a:pathLst>
                <a:path w="1143386" h="1404458" extrusionOk="0">
                  <a:moveTo>
                    <a:pt x="45383" y="0"/>
                  </a:moveTo>
                  <a:lnTo>
                    <a:pt x="1098002" y="0"/>
                  </a:lnTo>
                  <a:cubicBezTo>
                    <a:pt x="1110038" y="0"/>
                    <a:pt x="1121582" y="4781"/>
                    <a:pt x="1130093" y="13293"/>
                  </a:cubicBezTo>
                  <a:cubicBezTo>
                    <a:pt x="1138604" y="21804"/>
                    <a:pt x="1143386" y="33347"/>
                    <a:pt x="1143386" y="45383"/>
                  </a:cubicBezTo>
                  <a:lnTo>
                    <a:pt x="1143386" y="1359074"/>
                  </a:lnTo>
                  <a:cubicBezTo>
                    <a:pt x="1143386" y="1371111"/>
                    <a:pt x="1138604" y="1382654"/>
                    <a:pt x="1130093" y="1391165"/>
                  </a:cubicBezTo>
                  <a:cubicBezTo>
                    <a:pt x="1121582" y="1399676"/>
                    <a:pt x="1110038" y="1404458"/>
                    <a:pt x="1098002" y="1404458"/>
                  </a:cubicBezTo>
                  <a:lnTo>
                    <a:pt x="45383" y="1404458"/>
                  </a:lnTo>
                  <a:cubicBezTo>
                    <a:pt x="20319" y="1404458"/>
                    <a:pt x="0" y="1384139"/>
                    <a:pt x="0" y="1359074"/>
                  </a:cubicBezTo>
                  <a:lnTo>
                    <a:pt x="0" y="45383"/>
                  </a:lnTo>
                  <a:cubicBezTo>
                    <a:pt x="0" y="33347"/>
                    <a:pt x="4781" y="21804"/>
                    <a:pt x="13293" y="13293"/>
                  </a:cubicBezTo>
                  <a:cubicBezTo>
                    <a:pt x="21804" y="4781"/>
                    <a:pt x="33347" y="0"/>
                    <a:pt x="4538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BD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255;p12"/>
            <p:cNvSpPr txBox="1"/>
            <p:nvPr/>
          </p:nvSpPr>
          <p:spPr>
            <a:xfrm>
              <a:off x="0" y="-38100"/>
              <a:ext cx="1143386" cy="14425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" name="Google Shape;250;p12"/>
          <p:cNvGrpSpPr/>
          <p:nvPr/>
        </p:nvGrpSpPr>
        <p:grpSpPr>
          <a:xfrm>
            <a:off x="12205984" y="2231480"/>
            <a:ext cx="1620054" cy="1583870"/>
            <a:chOff x="0" y="0"/>
            <a:chExt cx="812800" cy="812800"/>
          </a:xfrm>
        </p:grpSpPr>
        <p:sp>
          <p:nvSpPr>
            <p:cNvPr id="87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dirty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4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" name="Google Shape;250;p12"/>
          <p:cNvGrpSpPr/>
          <p:nvPr/>
        </p:nvGrpSpPr>
        <p:grpSpPr>
          <a:xfrm>
            <a:off x="15936106" y="2279133"/>
            <a:ext cx="1620054" cy="1583870"/>
            <a:chOff x="0" y="0"/>
            <a:chExt cx="812800" cy="812800"/>
          </a:xfrm>
        </p:grpSpPr>
        <p:sp>
          <p:nvSpPr>
            <p:cNvPr id="90" name="Google Shape;251;p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D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252;p12"/>
            <p:cNvSpPr txBox="1"/>
            <p:nvPr/>
          </p:nvSpPr>
          <p:spPr>
            <a:xfrm>
              <a:off x="76200" y="27292"/>
              <a:ext cx="677096" cy="7093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lvl="1" algn="ctr">
                <a:lnSpc>
                  <a:spcPct val="186611"/>
                </a:lnSpc>
              </a:pPr>
              <a:r>
                <a:rPr lang="ru-RU" sz="6000" dirty="0">
                  <a:solidFill>
                    <a:schemeClr val="dk1"/>
                  </a:solidFill>
                  <a:latin typeface="Arial Black" panose="020B0A04020102020204" pitchFamily="34" charset="0"/>
                  <a:ea typeface="Calibri"/>
                  <a:cs typeface="Calibri"/>
                  <a:sym typeface="Calibri"/>
                </a:rPr>
                <a:t>5</a:t>
              </a:r>
              <a:endParaRPr sz="6000" b="0" i="0" u="none" strike="noStrike" cap="none" dirty="0">
                <a:solidFill>
                  <a:schemeClr val="dk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3" name="Google Shape;285;p12"/>
          <p:cNvSpPr txBox="1"/>
          <p:nvPr/>
        </p:nvSpPr>
        <p:spPr>
          <a:xfrm>
            <a:off x="15726896" y="4035206"/>
            <a:ext cx="2038473" cy="142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Фиксирование результата</a:t>
            </a:r>
            <a:endParaRPr lang="ru-RU" sz="2400" b="0" i="0" u="none" strike="noStrike" cap="none" dirty="0" smtClean="0">
              <a:solidFill>
                <a:srgbClr val="FFFFFF"/>
              </a:solidFill>
              <a:latin typeface="+mj-lt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Скриншот</a:t>
            </a:r>
            <a:endParaRPr sz="1000" dirty="0">
              <a:latin typeface="+mj-lt"/>
            </a:endParaRPr>
          </a:p>
        </p:txBody>
      </p:sp>
      <p:sp>
        <p:nvSpPr>
          <p:cNvPr id="94" name="Google Shape;285;p12"/>
          <p:cNvSpPr txBox="1"/>
          <p:nvPr/>
        </p:nvSpPr>
        <p:spPr>
          <a:xfrm>
            <a:off x="12084927" y="4025968"/>
            <a:ext cx="1968612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smtClean="0">
                <a:solidFill>
                  <a:srgbClr val="FFFFFF"/>
                </a:solidFill>
                <a:latin typeface="+mj-lt"/>
                <a:ea typeface="Roboto Condensed"/>
                <a:cs typeface="Roboto Condensed"/>
                <a:sym typeface="Roboto Condensed"/>
              </a:rPr>
              <a:t>Проверка</a:t>
            </a:r>
            <a:endParaRPr lang="ru-RU" sz="2400" b="0" i="0" u="none" strike="noStrike" cap="none" dirty="0" smtClean="0">
              <a:solidFill>
                <a:srgbClr val="FFFFFF"/>
              </a:solidFill>
              <a:latin typeface="+mj-lt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 smtClean="0">
                <a:solidFill>
                  <a:srgbClr val="FFFFFF"/>
                </a:solidFill>
                <a:latin typeface="+mj-lt"/>
                <a:ea typeface="Roboto Condensed"/>
                <a:sym typeface="Roboto Condensed"/>
              </a:rPr>
              <a:t>Сравнение результатов</a:t>
            </a:r>
            <a:endParaRPr sz="1000" dirty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4"/>
          <p:cNvSpPr txBox="1"/>
          <p:nvPr/>
        </p:nvSpPr>
        <p:spPr>
          <a:xfrm>
            <a:off x="491985" y="239416"/>
            <a:ext cx="8887542" cy="210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Тест №</a:t>
            </a:r>
            <a:r>
              <a:rPr lang="ru-RU" sz="6000" dirty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1</a:t>
            </a:r>
            <a:endParaRPr lang="ru-RU" sz="6000" b="0" i="0" u="none" strike="noStrike" cap="none" dirty="0" smtClean="0">
              <a:solidFill>
                <a:srgbClr val="FFBD4C"/>
              </a:solidFill>
              <a:latin typeface="Arial Black" panose="020B0A04020102020204" pitchFamily="34" charset="0"/>
              <a:ea typeface="Montserrat"/>
              <a:cs typeface="Montserrat"/>
              <a:sym typeface="Montserrat"/>
            </a:endParaRPr>
          </a:p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Русски</a:t>
            </a:r>
            <a:r>
              <a:rPr lang="ru-RU" sz="5400" dirty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й</a:t>
            </a:r>
            <a:r>
              <a:rPr lang="ru-RU" sz="54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 алфавит</a:t>
            </a:r>
            <a:endParaRPr sz="800" dirty="0">
              <a:latin typeface="Arial Black" panose="020B0A04020102020204" pitchFamily="34" charset="0"/>
            </a:endParaRPr>
          </a:p>
        </p:txBody>
      </p:sp>
      <p:grpSp>
        <p:nvGrpSpPr>
          <p:cNvPr id="368" name="Google Shape;368;p14"/>
          <p:cNvGrpSpPr/>
          <p:nvPr/>
        </p:nvGrpSpPr>
        <p:grpSpPr>
          <a:xfrm>
            <a:off x="15618305" y="1755"/>
            <a:ext cx="2137482" cy="475324"/>
            <a:chOff x="30956" y="22212"/>
            <a:chExt cx="2849976" cy="633766"/>
          </a:xfrm>
        </p:grpSpPr>
        <p:cxnSp>
          <p:nvCxnSpPr>
            <p:cNvPr id="369" name="Google Shape;369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0" name="Google Shape;370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1" name="Google Shape;371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2" name="Google Shape;372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3" name="Google Shape;373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4" name="Google Shape;374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5" name="Google Shape;375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76" name="Google Shape;376;p14"/>
          <p:cNvGrpSpPr/>
          <p:nvPr/>
        </p:nvGrpSpPr>
        <p:grpSpPr>
          <a:xfrm rot="5400000">
            <a:off x="-814419" y="7426244"/>
            <a:ext cx="2137482" cy="475324"/>
            <a:chOff x="30956" y="22212"/>
            <a:chExt cx="2849976" cy="633766"/>
          </a:xfrm>
        </p:grpSpPr>
        <p:cxnSp>
          <p:nvCxnSpPr>
            <p:cNvPr id="377" name="Google Shape;377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8" name="Google Shape;378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9" name="Google Shape;379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0" name="Google Shape;380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1" name="Google Shape;381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2" name="Google Shape;382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3" name="Google Shape;383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" name="TextBox 3"/>
          <p:cNvSpPr txBox="1"/>
          <p:nvPr/>
        </p:nvSpPr>
        <p:spPr>
          <a:xfrm>
            <a:off x="10889673" y="2757055"/>
            <a:ext cx="5497969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ru-RU" dirty="0" smtClean="0"/>
              <a:t>Действия и результат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1429" t="1827" r="1125" b="1825"/>
          <a:stretch/>
        </p:blipFill>
        <p:spPr>
          <a:xfrm>
            <a:off x="766437" y="2335685"/>
            <a:ext cx="8021255" cy="4965539"/>
          </a:xfrm>
          <a:prstGeom prst="roundRect">
            <a:avLst>
              <a:gd name="adj" fmla="val 8975"/>
            </a:avLst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3979" y="2270945"/>
            <a:ext cx="8021255" cy="5030279"/>
          </a:xfrm>
          <a:prstGeom prst="roundRect">
            <a:avLst>
              <a:gd name="adj" fmla="val 8565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766437" y="7663069"/>
            <a:ext cx="94765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Результат</a:t>
            </a:r>
            <a:r>
              <a:rPr lang="en-US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</a:p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Текст корректно зашифровался и расшифровался </a:t>
            </a:r>
            <a:endParaRPr lang="ru-RU" sz="24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4"/>
          <p:cNvSpPr txBox="1"/>
          <p:nvPr/>
        </p:nvSpPr>
        <p:spPr>
          <a:xfrm>
            <a:off x="491985" y="239416"/>
            <a:ext cx="8887542" cy="210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Тест №</a:t>
            </a:r>
            <a:r>
              <a:rPr lang="ru-RU" sz="6000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2</a:t>
            </a:r>
            <a:endParaRPr lang="ru-RU" sz="6000" b="0" i="0" u="none" strike="noStrike" cap="none" dirty="0" smtClean="0">
              <a:solidFill>
                <a:srgbClr val="FFBD4C"/>
              </a:solidFill>
              <a:latin typeface="Arial Black" panose="020B0A04020102020204" pitchFamily="34" charset="0"/>
              <a:ea typeface="Montserrat"/>
              <a:cs typeface="Montserrat"/>
              <a:sym typeface="Montserrat"/>
            </a:endParaRPr>
          </a:p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Английский алфавит</a:t>
            </a:r>
            <a:endParaRPr sz="800" dirty="0">
              <a:latin typeface="Arial Black" panose="020B0A04020102020204" pitchFamily="34" charset="0"/>
            </a:endParaRPr>
          </a:p>
        </p:txBody>
      </p:sp>
      <p:grpSp>
        <p:nvGrpSpPr>
          <p:cNvPr id="368" name="Google Shape;368;p14"/>
          <p:cNvGrpSpPr/>
          <p:nvPr/>
        </p:nvGrpSpPr>
        <p:grpSpPr>
          <a:xfrm>
            <a:off x="15618305" y="1755"/>
            <a:ext cx="2137482" cy="475324"/>
            <a:chOff x="30956" y="22212"/>
            <a:chExt cx="2849976" cy="633766"/>
          </a:xfrm>
        </p:grpSpPr>
        <p:cxnSp>
          <p:nvCxnSpPr>
            <p:cNvPr id="369" name="Google Shape;369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0" name="Google Shape;370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1" name="Google Shape;371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2" name="Google Shape;372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3" name="Google Shape;373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4" name="Google Shape;374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5" name="Google Shape;375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76" name="Google Shape;376;p14"/>
          <p:cNvGrpSpPr/>
          <p:nvPr/>
        </p:nvGrpSpPr>
        <p:grpSpPr>
          <a:xfrm rot="5400000">
            <a:off x="-814419" y="7426244"/>
            <a:ext cx="2137482" cy="475324"/>
            <a:chOff x="30956" y="22212"/>
            <a:chExt cx="2849976" cy="633766"/>
          </a:xfrm>
        </p:grpSpPr>
        <p:cxnSp>
          <p:nvCxnSpPr>
            <p:cNvPr id="377" name="Google Shape;377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8" name="Google Shape;378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9" name="Google Shape;379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0" name="Google Shape;380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1" name="Google Shape;381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2" name="Google Shape;382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3" name="Google Shape;383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" name="TextBox 3"/>
          <p:cNvSpPr txBox="1"/>
          <p:nvPr/>
        </p:nvSpPr>
        <p:spPr>
          <a:xfrm>
            <a:off x="10889673" y="2757055"/>
            <a:ext cx="5497969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ru-RU" dirty="0" smtClean="0"/>
              <a:t>Действия и результат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766437" y="7663069"/>
            <a:ext cx="94765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Результат</a:t>
            </a:r>
            <a:r>
              <a:rPr lang="en-US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</a:p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Текст корректно зашифровался и расшифровался </a:t>
            </a:r>
            <a:endParaRPr lang="ru-RU" sz="24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37" y="2371159"/>
            <a:ext cx="7754432" cy="4829849"/>
          </a:xfrm>
          <a:prstGeom prst="roundRect">
            <a:avLst>
              <a:gd name="adj" fmla="val 10069"/>
            </a:avLst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1420" y="2357483"/>
            <a:ext cx="7754432" cy="4932917"/>
          </a:xfrm>
          <a:prstGeom prst="roundRect">
            <a:avLst>
              <a:gd name="adj" fmla="val 8793"/>
            </a:avLst>
          </a:prstGeom>
        </p:spPr>
      </p:pic>
    </p:spTree>
    <p:extLst>
      <p:ext uri="{BB962C8B-B14F-4D97-AF65-F5344CB8AC3E}">
        <p14:creationId xmlns:p14="http://schemas.microsoft.com/office/powerpoint/2010/main" val="1067429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4"/>
          <p:cNvSpPr txBox="1"/>
          <p:nvPr/>
        </p:nvSpPr>
        <p:spPr>
          <a:xfrm>
            <a:off x="491985" y="239416"/>
            <a:ext cx="13653506" cy="310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Тест №</a:t>
            </a:r>
            <a:r>
              <a:rPr lang="en-US" sz="6000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3</a:t>
            </a:r>
            <a:endParaRPr lang="ru-RU" sz="6000" b="0" i="0" u="none" strike="noStrike" cap="none" dirty="0" smtClean="0">
              <a:solidFill>
                <a:srgbClr val="FFBD4C"/>
              </a:solidFill>
              <a:latin typeface="Arial Black" panose="020B0A04020102020204" pitchFamily="34" charset="0"/>
              <a:ea typeface="Montserrat"/>
              <a:cs typeface="Montserrat"/>
              <a:sym typeface="Montserrat"/>
            </a:endParaRPr>
          </a:p>
          <a:p>
            <a:pPr marL="0" marR="0" lv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dirty="0" smtClean="0">
                <a:solidFill>
                  <a:srgbClr val="FFBD4C"/>
                </a:solidFill>
                <a:latin typeface="Arial Black" panose="020B0A04020102020204" pitchFamily="34" charset="0"/>
                <a:sym typeface="Montserrat"/>
              </a:rPr>
              <a:t>Обработка некорректных ключей	</a:t>
            </a:r>
            <a:endParaRPr sz="800" dirty="0">
              <a:latin typeface="Arial Black" panose="020B0A04020102020204" pitchFamily="34" charset="0"/>
            </a:endParaRPr>
          </a:p>
        </p:txBody>
      </p:sp>
      <p:grpSp>
        <p:nvGrpSpPr>
          <p:cNvPr id="368" name="Google Shape;368;p14"/>
          <p:cNvGrpSpPr/>
          <p:nvPr/>
        </p:nvGrpSpPr>
        <p:grpSpPr>
          <a:xfrm>
            <a:off x="15618305" y="1755"/>
            <a:ext cx="2137482" cy="475324"/>
            <a:chOff x="30956" y="22212"/>
            <a:chExt cx="2849976" cy="633766"/>
          </a:xfrm>
        </p:grpSpPr>
        <p:cxnSp>
          <p:nvCxnSpPr>
            <p:cNvPr id="369" name="Google Shape;369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0" name="Google Shape;370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1" name="Google Shape;371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2" name="Google Shape;372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3" name="Google Shape;373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4" name="Google Shape;374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5" name="Google Shape;375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376" name="Google Shape;376;p14"/>
          <p:cNvGrpSpPr/>
          <p:nvPr/>
        </p:nvGrpSpPr>
        <p:grpSpPr>
          <a:xfrm rot="5400000">
            <a:off x="-814419" y="7426244"/>
            <a:ext cx="2137482" cy="475324"/>
            <a:chOff x="30956" y="22212"/>
            <a:chExt cx="2849976" cy="633766"/>
          </a:xfrm>
        </p:grpSpPr>
        <p:cxnSp>
          <p:nvCxnSpPr>
            <p:cNvPr id="377" name="Google Shape;377;p14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8" name="Google Shape;378;p14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79" name="Google Shape;379;p14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0" name="Google Shape;380;p14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1" name="Google Shape;381;p14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2" name="Google Shape;382;p14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3" name="Google Shape;383;p14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" name="TextBox 3"/>
          <p:cNvSpPr txBox="1"/>
          <p:nvPr/>
        </p:nvSpPr>
        <p:spPr>
          <a:xfrm>
            <a:off x="10889673" y="2757055"/>
            <a:ext cx="5497969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ru-RU" dirty="0" smtClean="0"/>
              <a:t>Действия и результат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766437" y="7663069"/>
            <a:ext cx="94765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Результат</a:t>
            </a:r>
            <a:r>
              <a:rPr lang="en-US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:</a:t>
            </a:r>
          </a:p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Некорректные ключи определяются правильно</a:t>
            </a:r>
          </a:p>
          <a:p>
            <a:r>
              <a:rPr lang="ru-RU" sz="24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Выводится сообщение об ошибке  </a:t>
            </a:r>
            <a:endParaRPr lang="ru-RU" sz="24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53" y="2348624"/>
            <a:ext cx="7840169" cy="4887007"/>
          </a:xfrm>
          <a:prstGeom prst="roundRect">
            <a:avLst>
              <a:gd name="adj" fmla="val 8729"/>
            </a:avLst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3847" y="2348624"/>
            <a:ext cx="7792537" cy="4810796"/>
          </a:xfrm>
          <a:prstGeom prst="roundRect">
            <a:avLst>
              <a:gd name="adj" fmla="val 8939"/>
            </a:avLst>
          </a:prstGeom>
        </p:spPr>
      </p:pic>
    </p:spTree>
    <p:extLst>
      <p:ext uri="{BB962C8B-B14F-4D97-AF65-F5344CB8AC3E}">
        <p14:creationId xmlns:p14="http://schemas.microsoft.com/office/powerpoint/2010/main" val="2637820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F27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6"/>
          <p:cNvSpPr txBox="1"/>
          <p:nvPr/>
        </p:nvSpPr>
        <p:spPr>
          <a:xfrm>
            <a:off x="5718311" y="129540"/>
            <a:ext cx="642558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0" i="0" u="none" strike="noStrike" cap="none" dirty="0" smtClean="0">
                <a:solidFill>
                  <a:srgbClr val="FFBD4C"/>
                </a:solidFill>
                <a:latin typeface="Arial Black" panose="020B0A04020102020204" pitchFamily="34" charset="0"/>
                <a:ea typeface="Montserrat"/>
                <a:cs typeface="Montserrat"/>
                <a:sym typeface="Montserrat"/>
              </a:rPr>
              <a:t>Заключение </a:t>
            </a:r>
            <a:endParaRPr sz="900" dirty="0">
              <a:latin typeface="Arial Black" panose="020B0A04020102020204" pitchFamily="34" charset="0"/>
            </a:endParaRPr>
          </a:p>
        </p:txBody>
      </p:sp>
      <p:sp>
        <p:nvSpPr>
          <p:cNvPr id="429" name="Google Shape;429;p16"/>
          <p:cNvSpPr txBox="1"/>
          <p:nvPr/>
        </p:nvSpPr>
        <p:spPr>
          <a:xfrm>
            <a:off x="900545" y="1577975"/>
            <a:ext cx="16833272" cy="7682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20005"/>
              </a:lnSpc>
            </a:pPr>
            <a:r>
              <a:rPr lang="ru-RU" sz="3200" dirty="0">
                <a:solidFill>
                  <a:srgbClr val="FFBD4C"/>
                </a:solidFill>
                <a:latin typeface="Arial Black" panose="020B0A04020102020204" pitchFamily="34" charset="0"/>
              </a:rPr>
              <a:t>В ходе выполнения проекта был разработан сайт для шифрования текста с использованием </a:t>
            </a:r>
            <a:r>
              <a:rPr lang="ru-RU" sz="3200" dirty="0" err="1">
                <a:solidFill>
                  <a:srgbClr val="FFBD4C"/>
                </a:solidFill>
                <a:latin typeface="Arial Black" panose="020B0A04020102020204" pitchFamily="34" charset="0"/>
              </a:rPr>
              <a:t>афинного</a:t>
            </a:r>
            <a:r>
              <a:rPr lang="ru-RU" sz="3200" dirty="0">
                <a:solidFill>
                  <a:srgbClr val="FFBD4C"/>
                </a:solidFill>
                <a:latin typeface="Arial Black" panose="020B0A04020102020204" pitchFamily="34" charset="0"/>
              </a:rPr>
              <a:t> шифра. Были изучены основы криптографии, принцип работы алгоритма и особенности веб-разработки</a:t>
            </a:r>
            <a:r>
              <a:rPr lang="ru-RU" sz="32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  <a:endParaRPr lang="ru-RU" sz="3200" dirty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 lvl="0">
              <a:lnSpc>
                <a:spcPct val="120005"/>
              </a:lnSpc>
            </a:pPr>
            <a:r>
              <a:rPr lang="ru-RU" sz="3200" dirty="0">
                <a:solidFill>
                  <a:srgbClr val="FFBD4C"/>
                </a:solidFill>
                <a:latin typeface="Arial Black" panose="020B0A04020102020204" pitchFamily="34" charset="0"/>
              </a:rPr>
              <a:t>В процессе создания проекта реализованы функции шифрования и дешифрования текста, настройка параметров шифра и автоматический вывод результата</a:t>
            </a:r>
            <a:r>
              <a:rPr lang="ru-RU" sz="32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  <a:endParaRPr lang="ru-RU" sz="3200" dirty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 lvl="0">
              <a:lnSpc>
                <a:spcPct val="120005"/>
              </a:lnSpc>
            </a:pPr>
            <a:r>
              <a:rPr lang="ru-RU" sz="3200" dirty="0">
                <a:solidFill>
                  <a:srgbClr val="FFBD4C"/>
                </a:solidFill>
                <a:latin typeface="Arial Black" panose="020B0A04020102020204" pitchFamily="34" charset="0"/>
              </a:rPr>
              <a:t>Также было проведено тестирование веб-приложения, которое показало корректную работу алгоритма и правильность обработки пользовательских данных</a:t>
            </a:r>
            <a:r>
              <a:rPr lang="ru-RU" sz="3200" dirty="0" smtClean="0">
                <a:solidFill>
                  <a:srgbClr val="FFBD4C"/>
                </a:solidFill>
                <a:latin typeface="Arial Black" panose="020B0A04020102020204" pitchFamily="34" charset="0"/>
              </a:rPr>
              <a:t>.</a:t>
            </a:r>
            <a:endParaRPr lang="ru-RU" sz="3200" dirty="0">
              <a:solidFill>
                <a:srgbClr val="FFBD4C"/>
              </a:solidFill>
              <a:latin typeface="Arial Black" panose="020B0A04020102020204" pitchFamily="34" charset="0"/>
            </a:endParaRPr>
          </a:p>
          <a:p>
            <a:pPr lvl="0">
              <a:lnSpc>
                <a:spcPct val="120005"/>
              </a:lnSpc>
            </a:pPr>
            <a:r>
              <a:rPr lang="ru-RU" sz="3200" dirty="0">
                <a:solidFill>
                  <a:srgbClr val="FFBD4C"/>
                </a:solidFill>
                <a:latin typeface="Arial Black" panose="020B0A04020102020204" pitchFamily="34" charset="0"/>
              </a:rPr>
              <a:t>Разработанный сайт может использоваться в образовательных целях для изучения основ криптографии, защиты информации и методов шифрования текста.</a:t>
            </a:r>
            <a:endParaRPr sz="3200" dirty="0">
              <a:solidFill>
                <a:srgbClr val="FFBD4C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444" name="Google Shape;444;p16"/>
          <p:cNvGrpSpPr/>
          <p:nvPr/>
        </p:nvGrpSpPr>
        <p:grpSpPr>
          <a:xfrm rot="5400000">
            <a:off x="-814419" y="2570986"/>
            <a:ext cx="2137482" cy="475324"/>
            <a:chOff x="30956" y="22212"/>
            <a:chExt cx="2849976" cy="633766"/>
          </a:xfrm>
        </p:grpSpPr>
        <p:cxnSp>
          <p:nvCxnSpPr>
            <p:cNvPr id="445" name="Google Shape;445;p16"/>
            <p:cNvCxnSpPr/>
            <p:nvPr/>
          </p:nvCxnSpPr>
          <p:spPr>
            <a:xfrm rot="10800000" flipH="1">
              <a:off x="30956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46" name="Google Shape;446;p16"/>
            <p:cNvCxnSpPr/>
            <p:nvPr/>
          </p:nvCxnSpPr>
          <p:spPr>
            <a:xfrm rot="10800000" flipH="1">
              <a:off x="430160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47" name="Google Shape;447;p16"/>
            <p:cNvCxnSpPr/>
            <p:nvPr/>
          </p:nvCxnSpPr>
          <p:spPr>
            <a:xfrm rot="10800000" flipH="1">
              <a:off x="829364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48" name="Google Shape;448;p16"/>
            <p:cNvCxnSpPr/>
            <p:nvPr/>
          </p:nvCxnSpPr>
          <p:spPr>
            <a:xfrm rot="10800000" flipH="1">
              <a:off x="1228569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49" name="Google Shape;449;p16"/>
            <p:cNvCxnSpPr/>
            <p:nvPr/>
          </p:nvCxnSpPr>
          <p:spPr>
            <a:xfrm rot="10800000" flipH="1">
              <a:off x="1627773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50" name="Google Shape;450;p16"/>
            <p:cNvCxnSpPr/>
            <p:nvPr/>
          </p:nvCxnSpPr>
          <p:spPr>
            <a:xfrm rot="10800000" flipH="1">
              <a:off x="2026977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51" name="Google Shape;451;p16"/>
            <p:cNvCxnSpPr/>
            <p:nvPr/>
          </p:nvCxnSpPr>
          <p:spPr>
            <a:xfrm rot="10800000" flipH="1">
              <a:off x="2426182" y="22212"/>
              <a:ext cx="454750" cy="633766"/>
            </a:xfrm>
            <a:prstGeom prst="straightConnector1">
              <a:avLst/>
            </a:prstGeom>
            <a:noFill/>
            <a:ln w="76200" cap="flat" cmpd="sng">
              <a:solidFill>
                <a:srgbClr val="FFBD4C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2507537" y="4410038"/>
            <a:ext cx="13383627" cy="1143000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latin typeface="Arial Black" panose="020B0A04020102020204" pitchFamily="34" charset="0"/>
              </a:rPr>
              <a:t>Спасибо за внимание!</a:t>
            </a:r>
            <a:endParaRPr lang="ru-RU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608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rade Marketing">
  <a:themeElements>
    <a:clrScheme name="Office">
      <a:dk1>
        <a:srgbClr val="000000"/>
      </a:dk1>
      <a:lt1>
        <a:srgbClr val="FFFFFF"/>
      </a:lt1>
      <a:dk2>
        <a:srgbClr val="888888"/>
      </a:dk2>
      <a:lt2>
        <a:srgbClr val="FFBD4C"/>
      </a:lt2>
      <a:accent1>
        <a:srgbClr val="4E77A7"/>
      </a:accent1>
      <a:accent2>
        <a:srgbClr val="0C0F27"/>
      </a:accent2>
      <a:accent3>
        <a:srgbClr val="FFFFFF"/>
      </a:accent3>
      <a:accent4>
        <a:srgbClr val="888888"/>
      </a:accent4>
      <a:accent5>
        <a:srgbClr val="FFBD4C"/>
      </a:accent5>
      <a:accent6>
        <a:srgbClr val="4E77A7"/>
      </a:accent6>
      <a:hlink>
        <a:srgbClr val="0C0F27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4506</TotalTime>
  <Words>488</Words>
  <Application>Microsoft Office PowerPoint</Application>
  <PresentationFormat>Произвольный</PresentationFormat>
  <Paragraphs>79</Paragraphs>
  <Slides>13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Calibri</vt:lpstr>
      <vt:lpstr>Arial Black</vt:lpstr>
      <vt:lpstr>Raleway</vt:lpstr>
      <vt:lpstr>Arial</vt:lpstr>
      <vt:lpstr>Roboto Condensed</vt:lpstr>
      <vt:lpstr>Montserrat</vt:lpstr>
      <vt:lpstr>Trade Marketing</vt:lpstr>
      <vt:lpstr>Презентация PowerPoint</vt:lpstr>
      <vt:lpstr>Презентация PowerPoint</vt:lpstr>
      <vt:lpstr>Актуальность</vt:lpstr>
      <vt:lpstr>Афинный шифр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Home</dc:creator>
  <cp:lastModifiedBy>Home</cp:lastModifiedBy>
  <cp:revision>22</cp:revision>
  <dcterms:modified xsi:type="dcterms:W3CDTF">2026-05-28T07:08:08Z</dcterms:modified>
</cp:coreProperties>
</file>